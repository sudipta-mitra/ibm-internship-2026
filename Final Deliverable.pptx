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8" r:id="rId2"/>
    <p:sldId id="259" r:id="rId3"/>
    <p:sldId id="260" r:id="rId4"/>
    <p:sldId id="261" r:id="rId5"/>
    <p:sldId id="262" r:id="rId6"/>
    <p:sldId id="263" r:id="rId7"/>
    <p:sldId id="264" r:id="rId8"/>
    <p:sldId id="265" r:id="rId9"/>
    <p:sldId id="269" r:id="rId10"/>
    <p:sldId id="270" r:id="rId11"/>
    <p:sldId id="271" r:id="rId12"/>
    <p:sldId id="267" r:id="rId13"/>
  </p:sldIdLst>
  <p:sldSz cx="9144000" cy="5143500" type="screen16x9"/>
  <p:notesSz cx="6858000" cy="9144000"/>
  <p:embeddedFontLst>
    <p:embeddedFont>
      <p:font typeface="Helvetica Neue Light" panose="020B0604020202020204" charset="0"/>
      <p:regular r:id="rId15"/>
      <p:bold r:id="rId16"/>
      <p:italic r:id="rId17"/>
      <p:boldItalic r:id="rId18"/>
    </p:embeddedFont>
    <p:embeddedFont>
      <p:font typeface="IBM Plex Sans" panose="020B0503050203000203" pitchFamily="34" charset="0"/>
      <p:regular r:id="rId19"/>
      <p:bold r:id="rId20"/>
      <p:italic r:id="rId21"/>
      <p:boldItalic r:id="rId22"/>
    </p:embeddedFont>
    <p:embeddedFont>
      <p:font typeface="IBM Plex Sans SemiBold" panose="020B0703050203000203" pitchFamily="34" charset="0"/>
      <p:bold r:id="rId23"/>
      <p:boldItalic r:id="rId24"/>
    </p:embeddedFont>
    <p:embeddedFont>
      <p:font typeface="Tahoma" panose="020B0604030504040204" pitchFamily="3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saDHqNgUEp7JC6cpUXLrtytbs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2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87046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se slide" type="title">
  <p:cSld name="TITLE">
    <p:spTree>
      <p:nvGrpSpPr>
        <p:cNvPr id="1" name="Shape 11"/>
        <p:cNvGrpSpPr/>
        <p:nvPr/>
      </p:nvGrpSpPr>
      <p:grpSpPr>
        <a:xfrm>
          <a:off x="0" y="0"/>
          <a:ext cx="0" cy="0"/>
          <a:chOff x="0" y="0"/>
          <a:chExt cx="0" cy="0"/>
        </a:xfrm>
      </p:grpSpPr>
      <p:sp>
        <p:nvSpPr>
          <p:cNvPr id="12" name="Google Shape;12;p30"/>
          <p:cNvSpPr txBox="1">
            <a:spLocks noGrp="1"/>
          </p:cNvSpPr>
          <p:nvPr>
            <p:ph type="sldNum" idx="12"/>
          </p:nvPr>
        </p:nvSpPr>
        <p:spPr>
          <a:xfrm>
            <a:off x="4458411" y="4905375"/>
            <a:ext cx="222417" cy="379591"/>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blank">
  <p:cSld name="title, blank">
    <p:spTree>
      <p:nvGrpSpPr>
        <p:cNvPr id="1" name="Shape 19"/>
        <p:cNvGrpSpPr/>
        <p:nvPr/>
      </p:nvGrpSpPr>
      <p:grpSpPr>
        <a:xfrm>
          <a:off x="0" y="0"/>
          <a:ext cx="0" cy="0"/>
          <a:chOff x="0" y="0"/>
          <a:chExt cx="0" cy="0"/>
        </a:xfrm>
      </p:grpSpPr>
      <p:sp>
        <p:nvSpPr>
          <p:cNvPr id="20" name="Google Shape;20;p35"/>
          <p:cNvSpPr txBox="1">
            <a:spLocks noGrp="1"/>
          </p:cNvSpPr>
          <p:nvPr>
            <p:ph type="title"/>
          </p:nvPr>
        </p:nvSpPr>
        <p:spPr>
          <a:xfrm>
            <a:off x="210312" y="201168"/>
            <a:ext cx="4142232" cy="20774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35"/>
          <p:cNvSpPr txBox="1">
            <a:spLocks noGrp="1"/>
          </p:cNvSpPr>
          <p:nvPr>
            <p:ph type="ftr" idx="11"/>
          </p:nvPr>
        </p:nvSpPr>
        <p:spPr>
          <a:xfrm>
            <a:off x="3108960" y="4783455"/>
            <a:ext cx="2926080" cy="415499"/>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35"/>
          <p:cNvSpPr txBox="1">
            <a:spLocks noGrp="1"/>
          </p:cNvSpPr>
          <p:nvPr>
            <p:ph type="sldNum" idx="12"/>
          </p:nvPr>
        </p:nvSpPr>
        <p:spPr>
          <a:xfrm>
            <a:off x="6583680" y="4783455"/>
            <a:ext cx="2103120" cy="207749"/>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3"/>
        <p:cNvGrpSpPr/>
        <p:nvPr/>
      </p:nvGrpSpPr>
      <p:grpSpPr>
        <a:xfrm>
          <a:off x="0" y="0"/>
          <a:ext cx="0" cy="0"/>
          <a:chOff x="0" y="0"/>
          <a:chExt cx="0" cy="0"/>
        </a:xfrm>
      </p:grpSpPr>
      <p:sp>
        <p:nvSpPr>
          <p:cNvPr id="24" name="Google Shape;24;p36"/>
          <p:cNvSpPr txBox="1">
            <a:spLocks noGrp="1"/>
          </p:cNvSpPr>
          <p:nvPr>
            <p:ph type="title"/>
          </p:nvPr>
        </p:nvSpPr>
        <p:spPr>
          <a:xfrm>
            <a:off x="320765" y="231413"/>
            <a:ext cx="4682490" cy="33909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100" b="1" i="0">
                <a:solidFill>
                  <a:srgbClr val="0043CE"/>
                </a:solidFill>
                <a:latin typeface="Tahoma"/>
                <a:ea typeface="Tahoma"/>
                <a:cs typeface="Tahoma"/>
                <a:sym typeface="Tahom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p36"/>
          <p:cNvSpPr txBox="1">
            <a:spLocks noGrp="1"/>
          </p:cNvSpPr>
          <p:nvPr>
            <p:ph type="body" idx="1"/>
          </p:nvPr>
        </p:nvSpPr>
        <p:spPr>
          <a:xfrm>
            <a:off x="457200" y="1183005"/>
            <a:ext cx="3977640" cy="33947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28600" algn="l">
              <a:lnSpc>
                <a:spcPct val="100000"/>
              </a:lnSpc>
              <a:spcBef>
                <a:spcPts val="0"/>
              </a:spcBef>
              <a:spcAft>
                <a:spcPts val="0"/>
              </a:spcAft>
              <a:buSzPts val="1100"/>
              <a:buNone/>
              <a:defRPr/>
            </a:lvl6pPr>
            <a:lvl7pPr marL="3200400" lvl="6" indent="-228600" algn="l">
              <a:lnSpc>
                <a:spcPct val="100000"/>
              </a:lnSpc>
              <a:spcBef>
                <a:spcPts val="0"/>
              </a:spcBef>
              <a:spcAft>
                <a:spcPts val="0"/>
              </a:spcAft>
              <a:buSzPts val="1100"/>
              <a:buNone/>
              <a:defRPr/>
            </a:lvl7pPr>
            <a:lvl8pPr marL="3657600" lvl="7" indent="-228600" algn="l">
              <a:lnSpc>
                <a:spcPct val="100000"/>
              </a:lnSpc>
              <a:spcBef>
                <a:spcPts val="0"/>
              </a:spcBef>
              <a:spcAft>
                <a:spcPts val="0"/>
              </a:spcAft>
              <a:buSzPts val="1100"/>
              <a:buNone/>
              <a:defRPr/>
            </a:lvl8pPr>
            <a:lvl9pPr marL="4114800" lvl="8" indent="-228600" algn="l">
              <a:lnSpc>
                <a:spcPct val="100000"/>
              </a:lnSpc>
              <a:spcBef>
                <a:spcPts val="0"/>
              </a:spcBef>
              <a:spcAft>
                <a:spcPts val="0"/>
              </a:spcAft>
              <a:buSzPts val="1100"/>
              <a:buNone/>
              <a:defRPr/>
            </a:lvl9pPr>
          </a:lstStyle>
          <a:p>
            <a:endParaRPr/>
          </a:p>
        </p:txBody>
      </p:sp>
      <p:sp>
        <p:nvSpPr>
          <p:cNvPr id="26" name="Google Shape;26;p36"/>
          <p:cNvSpPr txBox="1">
            <a:spLocks noGrp="1"/>
          </p:cNvSpPr>
          <p:nvPr>
            <p:ph type="body" idx="2"/>
          </p:nvPr>
        </p:nvSpPr>
        <p:spPr>
          <a:xfrm>
            <a:off x="4709160" y="1183005"/>
            <a:ext cx="3977640" cy="33947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28600" algn="l">
              <a:lnSpc>
                <a:spcPct val="100000"/>
              </a:lnSpc>
              <a:spcBef>
                <a:spcPts val="0"/>
              </a:spcBef>
              <a:spcAft>
                <a:spcPts val="0"/>
              </a:spcAft>
              <a:buSzPts val="1100"/>
              <a:buNone/>
              <a:defRPr/>
            </a:lvl6pPr>
            <a:lvl7pPr marL="3200400" lvl="6" indent="-228600" algn="l">
              <a:lnSpc>
                <a:spcPct val="100000"/>
              </a:lnSpc>
              <a:spcBef>
                <a:spcPts val="0"/>
              </a:spcBef>
              <a:spcAft>
                <a:spcPts val="0"/>
              </a:spcAft>
              <a:buSzPts val="1100"/>
              <a:buNone/>
              <a:defRPr/>
            </a:lvl7pPr>
            <a:lvl8pPr marL="3657600" lvl="7" indent="-228600" algn="l">
              <a:lnSpc>
                <a:spcPct val="100000"/>
              </a:lnSpc>
              <a:spcBef>
                <a:spcPts val="0"/>
              </a:spcBef>
              <a:spcAft>
                <a:spcPts val="0"/>
              </a:spcAft>
              <a:buSzPts val="1100"/>
              <a:buNone/>
              <a:defRPr/>
            </a:lvl8pPr>
            <a:lvl9pPr marL="4114800" lvl="8" indent="-228600" algn="l">
              <a:lnSpc>
                <a:spcPct val="100000"/>
              </a:lnSpc>
              <a:spcBef>
                <a:spcPts val="0"/>
              </a:spcBef>
              <a:spcAft>
                <a:spcPts val="0"/>
              </a:spcAft>
              <a:buSzPts val="1100"/>
              <a:buNone/>
              <a:defRPr/>
            </a:lvl9pPr>
          </a:lstStyle>
          <a:p>
            <a:endParaRPr/>
          </a:p>
        </p:txBody>
      </p:sp>
      <p:sp>
        <p:nvSpPr>
          <p:cNvPr id="27" name="Google Shape;27;p3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 name="Google Shape;28;p3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3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9"/>
          <p:cNvSpPr txBox="1">
            <a:spLocks noGrp="1"/>
          </p:cNvSpPr>
          <p:nvPr>
            <p:ph type="title"/>
          </p:nvPr>
        </p:nvSpPr>
        <p:spPr>
          <a:xfrm>
            <a:off x="320765" y="231413"/>
            <a:ext cx="4682490" cy="33909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100"/>
              <a:buFont typeface="Arial"/>
              <a:buNone/>
              <a:defRPr sz="2100" b="1" i="0" u="none" strike="noStrike" cap="none">
                <a:solidFill>
                  <a:srgbClr val="0043CE"/>
                </a:solidFill>
                <a:latin typeface="Tahoma"/>
                <a:ea typeface="Tahoma"/>
                <a:cs typeface="Tahoma"/>
                <a:sym typeface="Tahoma"/>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29"/>
          <p:cNvSpPr txBox="1">
            <a:spLocks noGrp="1"/>
          </p:cNvSpPr>
          <p:nvPr>
            <p:ph type="body" idx="1"/>
          </p:nvPr>
        </p:nvSpPr>
        <p:spPr>
          <a:xfrm>
            <a:off x="457200" y="1183005"/>
            <a:ext cx="8229600" cy="339471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9pPr>
          </a:lstStyle>
          <a:p>
            <a:endParaRPr/>
          </a:p>
        </p:txBody>
      </p:sp>
      <p:sp>
        <p:nvSpPr>
          <p:cNvPr id="8" name="Google Shape;8;p29"/>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9" name="Google Shape;9;p29"/>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 name="Google Shape;10;p29"/>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Lst>
  <mc:AlternateContent xmlns:mc="http://schemas.openxmlformats.org/markup-compatibility/2006" xmlns:p14="http://schemas.microsoft.com/office/powerpoint/2010/main">
    <mc:Choice Requires="p14">
      <p:transition spd="med">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hyperlink" Target="https://public.tableau.com/app/profile/sudipta.mitra5174/viz/IBMInternshipDashboard/Dashboard2" TargetMode="External"/><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642"/>
            <a:ext cx="9144000" cy="5142215"/>
          </a:xfrm>
          <a:prstGeom prst="rect">
            <a:avLst/>
          </a:prstGeom>
        </p:spPr>
      </p:pic>
      <p:sp>
        <p:nvSpPr>
          <p:cNvPr id="20" name="Eyebrow"/>
          <p:cNvSpPr txBox="1"/>
          <p:nvPr/>
        </p:nvSpPr>
        <p:spPr>
          <a:xfrm>
            <a:off x="349624" y="1035000"/>
            <a:ext cx="6979023" cy="260000"/>
          </a:xfrm>
          <a:prstGeom prst="rect">
            <a:avLst/>
          </a:prstGeom>
          <a:noFill/>
        </p:spPr>
        <p:txBody>
          <a:bodyPr wrap="square" rtlCol="0">
            <a:spAutoFit/>
          </a:bodyPr>
          <a:lstStyle/>
          <a:p>
            <a:r>
              <a:rPr lang="en-IN" sz="1400" spc="200" dirty="0">
                <a:solidFill>
                  <a:srgbClr val="F2994A"/>
                </a:solidFill>
                <a:latin typeface="IBM Plex Sans SemiBold" panose="020B0503050203000203" pitchFamily="34" charset="0"/>
              </a:rPr>
              <a:t>FINAL PROJECT PRESENTATION</a:t>
            </a:r>
          </a:p>
        </p:txBody>
      </p:sp>
      <p:sp>
        <p:nvSpPr>
          <p:cNvPr id="8" name="TextBox 7"/>
          <p:cNvSpPr txBox="1"/>
          <p:nvPr/>
        </p:nvSpPr>
        <p:spPr>
          <a:xfrm>
            <a:off x="349624" y="1330000"/>
            <a:ext cx="8250000" cy="1077218"/>
          </a:xfrm>
          <a:prstGeom prst="rect">
            <a:avLst/>
          </a:prstGeom>
          <a:noFill/>
        </p:spPr>
        <p:txBody>
          <a:bodyPr wrap="square" rtlCol="0">
            <a:spAutoFit/>
          </a:bodyPr>
          <a:lstStyle/>
          <a:p>
            <a:r>
              <a:rPr lang="en-US" sz="3200" dirty="0">
                <a:solidFill>
                  <a:schemeClr val="bg1"/>
                </a:solidFill>
                <a:latin typeface="IBM Plex Sans SemiBold" panose="020B0503050203000203" pitchFamily="34" charset="0"/>
                <a:cs typeface="Arial" panose="020B0604020202020204" pitchFamily="34" charset="0"/>
              </a:rPr>
              <a:t>Employee Performance &amp; Loan Analysis Dashboard</a:t>
            </a:r>
            <a:endParaRPr lang="en-IN" sz="3200" dirty="0">
              <a:solidFill>
                <a:schemeClr val="bg1"/>
              </a:solidFill>
              <a:latin typeface="IBM Plex Sans SemiBold" panose="020B0503050203000203" pitchFamily="34" charset="0"/>
              <a:cs typeface="Arial" panose="020B0604020202020204" pitchFamily="34" charset="0"/>
            </a:endParaRPr>
          </a:p>
        </p:txBody>
      </p:sp>
      <p:cxnSp>
        <p:nvCxnSpPr>
          <p:cNvPr id="10" name="Straight Connector 9"/>
          <p:cNvCxnSpPr>
            <a:cxnSpLocks/>
          </p:cNvCxnSpPr>
          <p:nvPr/>
        </p:nvCxnSpPr>
        <p:spPr>
          <a:xfrm>
            <a:off x="349624" y="3110000"/>
            <a:ext cx="6200000" cy="0"/>
          </a:xfrm>
          <a:prstGeom prst="line">
            <a:avLst/>
          </a:prstGeom>
          <a:ln>
            <a:solidFill>
              <a:srgbClr val="F2994A"/>
            </a:solidFill>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349624" y="3230000"/>
            <a:ext cx="7714156" cy="338554"/>
          </a:xfrm>
          <a:prstGeom prst="rect">
            <a:avLst/>
          </a:prstGeom>
          <a:noFill/>
        </p:spPr>
        <p:txBody>
          <a:bodyPr wrap="square" rtlCol="0">
            <a:spAutoFit/>
          </a:bodyPr>
          <a:lstStyle/>
          <a:p>
            <a:r>
              <a:rPr lang="en-US" sz="1600" dirty="0">
                <a:solidFill>
                  <a:srgbClr val="00B0F0"/>
                </a:solidFill>
                <a:latin typeface="IBM Plex Sans" panose="020B0503050203000203" pitchFamily="34" charset="0"/>
                <a:cs typeface="Arial" panose="020B0604020202020204" pitchFamily="34" charset="0"/>
              </a:rPr>
              <a:t>An Interactive Business Intelligence Dashboard built using Tableau</a:t>
            </a:r>
          </a:p>
        </p:txBody>
      </p:sp>
      <p:sp>
        <p:nvSpPr>
          <p:cNvPr id="12" name="TextBox 11"/>
          <p:cNvSpPr txBox="1"/>
          <p:nvPr/>
        </p:nvSpPr>
        <p:spPr>
          <a:xfrm>
            <a:off x="349624" y="4630000"/>
            <a:ext cx="7714156" cy="261610"/>
          </a:xfrm>
          <a:prstGeom prst="rect">
            <a:avLst/>
          </a:prstGeom>
          <a:noFill/>
        </p:spPr>
        <p:txBody>
          <a:bodyPr wrap="square" rtlCol="0">
            <a:spAutoFit/>
          </a:bodyPr>
          <a:lstStyle/>
          <a:p>
            <a:r>
              <a:rPr lang="en-US" sz="1100" dirty="0">
                <a:solidFill>
                  <a:schemeClr val="bg1"/>
                </a:solidFill>
                <a:latin typeface="IBM Plex Sans" panose="020B0503050203000203" pitchFamily="34" charset="0"/>
                <a:cs typeface="Arial" panose="020B0604020202020204" pitchFamily="34" charset="0"/>
              </a:rPr>
              <a:t>Presented by: Sudipta Mitra |  B.Sc. Data Science</a:t>
            </a:r>
          </a:p>
        </p:txBody>
      </p:sp>
      <p:pic>
        <p:nvPicPr>
          <p:cNvPr id="4" name="Picture 3"/>
          <p:cNvPicPr>
            <a:picLocks noChangeAspect="1"/>
          </p:cNvPicPr>
          <p:nvPr/>
        </p:nvPicPr>
        <p:blipFill>
          <a:blip r:embed="rId3"/>
          <a:stretch>
            <a:fillRect/>
          </a:stretch>
        </p:blipFill>
        <p:spPr>
          <a:xfrm>
            <a:off x="474654" y="195710"/>
            <a:ext cx="1797900" cy="701493"/>
          </a:xfrm>
          <a:prstGeom prst="rect">
            <a:avLst/>
          </a:prstGeom>
        </p:spPr>
      </p:pic>
      <p:pic>
        <p:nvPicPr>
          <p:cNvPr id="5" name="Picture 4"/>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6000000" cy="52322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What We’ll Cover</a:t>
            </a:r>
          </a:p>
        </p:txBody>
      </p:sp>
      <p:sp>
        <p:nvSpPr>
          <p:cNvPr id="9" name="Subtitle"/>
          <p:cNvSpPr txBox="1"/>
          <p:nvPr/>
        </p:nvSpPr>
        <p:spPr>
          <a:xfrm>
            <a:off x="368983" y="1130000"/>
            <a:ext cx="7500000" cy="276999"/>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Agenda for today’s final project presentation</a:t>
            </a:r>
          </a:p>
        </p:txBody>
      </p:sp>
      <p:sp>
        <p:nvSpPr>
          <p:cNvPr id="100" name="NumCircle0"/>
          <p:cNvSpPr/>
          <p:nvPr/>
        </p:nvSpPr>
        <p:spPr>
          <a:xfrm>
            <a:off x="400000" y="150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01</a:t>
            </a:r>
          </a:p>
        </p:txBody>
      </p:sp>
      <p:sp>
        <p:nvSpPr>
          <p:cNvPr id="101" name="Label0"/>
          <p:cNvSpPr txBox="1"/>
          <p:nvPr/>
        </p:nvSpPr>
        <p:spPr>
          <a:xfrm>
            <a:off x="920000" y="153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Introduction &amp; Problem Statement</a:t>
            </a:r>
          </a:p>
        </p:txBody>
      </p:sp>
      <p:sp>
        <p:nvSpPr>
          <p:cNvPr id="102" name="NumCircle1"/>
          <p:cNvSpPr/>
          <p:nvPr/>
        </p:nvSpPr>
        <p:spPr>
          <a:xfrm>
            <a:off x="400000" y="212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02</a:t>
            </a:r>
          </a:p>
        </p:txBody>
      </p:sp>
      <p:sp>
        <p:nvSpPr>
          <p:cNvPr id="103" name="Label1"/>
          <p:cNvSpPr txBox="1"/>
          <p:nvPr/>
        </p:nvSpPr>
        <p:spPr>
          <a:xfrm>
            <a:off x="920000" y="215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Project Objectives</a:t>
            </a:r>
          </a:p>
        </p:txBody>
      </p:sp>
      <p:sp>
        <p:nvSpPr>
          <p:cNvPr id="104" name="NumCircle2"/>
          <p:cNvSpPr/>
          <p:nvPr/>
        </p:nvSpPr>
        <p:spPr>
          <a:xfrm>
            <a:off x="400000" y="274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03</a:t>
            </a:r>
          </a:p>
        </p:txBody>
      </p:sp>
      <p:sp>
        <p:nvSpPr>
          <p:cNvPr id="105" name="Label2"/>
          <p:cNvSpPr txBox="1"/>
          <p:nvPr/>
        </p:nvSpPr>
        <p:spPr>
          <a:xfrm>
            <a:off x="920000" y="277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Dataset Description</a:t>
            </a:r>
          </a:p>
        </p:txBody>
      </p:sp>
      <p:sp>
        <p:nvSpPr>
          <p:cNvPr id="106" name="NumCircle3"/>
          <p:cNvSpPr/>
          <p:nvPr/>
        </p:nvSpPr>
        <p:spPr>
          <a:xfrm>
            <a:off x="400000" y="336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04</a:t>
            </a:r>
          </a:p>
        </p:txBody>
      </p:sp>
      <p:sp>
        <p:nvSpPr>
          <p:cNvPr id="107" name="Label3"/>
          <p:cNvSpPr txBox="1"/>
          <p:nvPr/>
        </p:nvSpPr>
        <p:spPr>
          <a:xfrm>
            <a:off x="920000" y="339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Proposed Dashboard Features</a:t>
            </a:r>
          </a:p>
        </p:txBody>
      </p:sp>
      <p:sp>
        <p:nvSpPr>
          <p:cNvPr id="108" name="NumCircle4"/>
          <p:cNvSpPr/>
          <p:nvPr/>
        </p:nvSpPr>
        <p:spPr>
          <a:xfrm>
            <a:off x="4750000" y="150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05</a:t>
            </a:r>
          </a:p>
        </p:txBody>
      </p:sp>
      <p:sp>
        <p:nvSpPr>
          <p:cNvPr id="109" name="Label4"/>
          <p:cNvSpPr txBox="1"/>
          <p:nvPr/>
        </p:nvSpPr>
        <p:spPr>
          <a:xfrm>
            <a:off x="5270000" y="153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Visualizations &amp; Chart Types</a:t>
            </a:r>
          </a:p>
        </p:txBody>
      </p:sp>
      <p:sp>
        <p:nvSpPr>
          <p:cNvPr id="110" name="NumCircle5"/>
          <p:cNvSpPr/>
          <p:nvPr/>
        </p:nvSpPr>
        <p:spPr>
          <a:xfrm>
            <a:off x="4750000" y="212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06</a:t>
            </a:r>
          </a:p>
        </p:txBody>
      </p:sp>
      <p:sp>
        <p:nvSpPr>
          <p:cNvPr id="111" name="Label5"/>
          <p:cNvSpPr txBox="1"/>
          <p:nvPr/>
        </p:nvSpPr>
        <p:spPr>
          <a:xfrm>
            <a:off x="5270000" y="215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Interactive Filters</a:t>
            </a:r>
          </a:p>
        </p:txBody>
      </p:sp>
      <p:sp>
        <p:nvSpPr>
          <p:cNvPr id="112" name="NumCircle6"/>
          <p:cNvSpPr/>
          <p:nvPr/>
        </p:nvSpPr>
        <p:spPr>
          <a:xfrm>
            <a:off x="4750000" y="2740000"/>
            <a:ext cx="420000" cy="420000"/>
          </a:xfrm>
          <a:prstGeom prst="ellipse">
            <a:avLst/>
          </a:prstGeom>
          <a:solidFill>
            <a:srgbClr val="F2994A"/>
          </a:solidFill>
          <a:ln>
            <a:noFill/>
          </a:ln>
        </p:spPr>
        <p:txBody>
          <a:bodyPr lIns="0" tIns="0" rIns="0" bIns="0" anchor="ctr"/>
          <a:lstStyle/>
          <a:p>
            <a:pPr algn="ctr"/>
            <a:r>
              <a:rPr lang="en-IN" sz="1400" b="1" dirty="0">
                <a:solidFill>
                  <a:schemeClr val="bg1"/>
                </a:solidFill>
                <a:latin typeface="IBM Plex Sans SemiBold" panose="020B0503050203000203" pitchFamily="34" charset="0"/>
              </a:rPr>
              <a:t>07</a:t>
            </a:r>
          </a:p>
        </p:txBody>
      </p:sp>
      <p:sp>
        <p:nvSpPr>
          <p:cNvPr id="113" name="Label6"/>
          <p:cNvSpPr txBox="1"/>
          <p:nvPr/>
        </p:nvSpPr>
        <p:spPr>
          <a:xfrm>
            <a:off x="5270000" y="277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SemiBold" panose="020B0503050203000203" pitchFamily="34" charset="0"/>
              </a:rPr>
              <a:t>Expected Outcomes &amp; Conclusion</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52322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Employee Performance &amp; Financial Analytics</a:t>
            </a:r>
          </a:p>
        </p:txBody>
      </p:sp>
      <p:sp>
        <p:nvSpPr>
          <p:cNvPr id="20" name="Text20"/>
          <p:cNvSpPr txBox="1"/>
          <p:nvPr/>
        </p:nvSpPr>
        <p:spPr>
          <a:xfrm>
            <a:off x="368983" y="1720000"/>
            <a:ext cx="8406034" cy="800000"/>
          </a:xfrm>
          <a:prstGeom prst="rect">
            <a:avLst/>
          </a:prstGeom>
          <a:noFill/>
        </p:spPr>
        <p:txBody>
          <a:bodyPr wrap="square" lIns="0" tIns="0" rIns="0" bIns="0" anchor="t">
            <a:normAutofit lnSpcReduction="10000"/>
          </a:bodyPr>
          <a:lstStyle/>
          <a:p>
            <a:pPr algn="l"/>
            <a:r>
              <a:rPr lang="en-US" sz="1350" b="0" i="0" dirty="0">
                <a:solidFill>
                  <a:srgbClr val="333A47"/>
                </a:solidFill>
                <a:latin typeface="IBM Plex Sans" panose="020B0503050203000203" pitchFamily="34" charset="0"/>
              </a:rPr>
              <a:t>Employee performance and financial management play a vital role in organizational success. Businesses collect large volumes of employee data, including salaries, loans, bonuses, performance ratings, and sales records. An interactive dashboard helps convert this raw data into meaningful insights for HR professionals and management.</a:t>
            </a:r>
            <a:endParaRPr lang="en-IN" sz="1350" b="0" i="0" dirty="0">
              <a:solidFill>
                <a:srgbClr val="333A47"/>
              </a:solidFill>
              <a:latin typeface="IBM Plex Sans" panose="020B0503050203000203" pitchFamily="34" charset="0"/>
            </a:endParaRPr>
          </a:p>
        </p:txBody>
      </p:sp>
      <p:sp>
        <p:nvSpPr>
          <p:cNvPr id="30" name="Rect30"/>
          <p:cNvSpPr/>
          <p:nvPr/>
        </p:nvSpPr>
        <p:spPr>
          <a:xfrm>
            <a:off x="578983" y="2881720"/>
            <a:ext cx="1989000" cy="1050000"/>
          </a:xfrm>
          <a:prstGeom prst="rect">
            <a:avLst/>
          </a:prstGeom>
          <a:solidFill>
            <a:srgbClr val="F4F6FB"/>
          </a:solidFill>
          <a:ln>
            <a:noFill/>
          </a:ln>
        </p:spPr>
        <p:txBody>
          <a:bodyPr/>
          <a:lstStyle/>
          <a:p>
            <a:endParaRPr/>
          </a:p>
        </p:txBody>
      </p:sp>
      <p:sp>
        <p:nvSpPr>
          <p:cNvPr id="40" name="Text40"/>
          <p:cNvSpPr txBox="1"/>
          <p:nvPr/>
        </p:nvSpPr>
        <p:spPr>
          <a:xfrm>
            <a:off x="428983" y="3100000"/>
            <a:ext cx="1869000" cy="450000"/>
          </a:xfrm>
          <a:prstGeom prst="rect">
            <a:avLst/>
          </a:prstGeom>
          <a:noFill/>
        </p:spPr>
        <p:txBody>
          <a:bodyPr wrap="square" lIns="0" tIns="0" rIns="0" bIns="0" anchor="t">
            <a:normAutofit/>
          </a:bodyPr>
          <a:lstStyle/>
          <a:p>
            <a:pPr algn="ctr"/>
            <a:r>
              <a:rPr lang="en-IN" sz="2000" b="1" i="0" dirty="0">
                <a:solidFill>
                  <a:srgbClr val="0532B3"/>
                </a:solidFill>
                <a:latin typeface="IBM Plex Sans SemiBold" panose="020B0503050203000203" pitchFamily="34" charset="0"/>
              </a:rPr>
              <a:t>809</a:t>
            </a:r>
          </a:p>
        </p:txBody>
      </p:sp>
      <p:sp>
        <p:nvSpPr>
          <p:cNvPr id="50" name="Text50"/>
          <p:cNvSpPr txBox="1"/>
          <p:nvPr/>
        </p:nvSpPr>
        <p:spPr>
          <a:xfrm>
            <a:off x="444412" y="3569665"/>
            <a:ext cx="1869000" cy="380000"/>
          </a:xfrm>
          <a:prstGeom prst="rect">
            <a:avLst/>
          </a:prstGeom>
          <a:noFill/>
        </p:spPr>
        <p:txBody>
          <a:bodyPr wrap="square" lIns="0" tIns="0" rIns="0" bIns="0" anchor="t">
            <a:normAutofit/>
          </a:bodyPr>
          <a:lstStyle/>
          <a:p>
            <a:pPr algn="ctr"/>
            <a:r>
              <a:rPr lang="en-US" sz="1050" dirty="0"/>
              <a:t>Total Employees</a:t>
            </a:r>
            <a:endParaRPr lang="en-IN" sz="1050" b="0" i="0" dirty="0">
              <a:solidFill>
                <a:srgbClr val="5B6577"/>
              </a:solidFill>
              <a:latin typeface="IBM Plex Sans" panose="020B0503050203000203" pitchFamily="34" charset="0"/>
            </a:endParaRPr>
          </a:p>
        </p:txBody>
      </p:sp>
      <p:sp>
        <p:nvSpPr>
          <p:cNvPr id="31" name="Rect31"/>
          <p:cNvSpPr/>
          <p:nvPr/>
        </p:nvSpPr>
        <p:spPr>
          <a:xfrm>
            <a:off x="2507983" y="2950000"/>
            <a:ext cx="1989000" cy="1050000"/>
          </a:xfrm>
          <a:prstGeom prst="rect">
            <a:avLst/>
          </a:prstGeom>
          <a:solidFill>
            <a:srgbClr val="F4F6FB"/>
          </a:solidFill>
          <a:ln>
            <a:noFill/>
          </a:ln>
        </p:spPr>
        <p:txBody>
          <a:bodyPr/>
          <a:lstStyle/>
          <a:p>
            <a:endParaRPr/>
          </a:p>
        </p:txBody>
      </p:sp>
      <p:sp>
        <p:nvSpPr>
          <p:cNvPr id="41" name="Text41"/>
          <p:cNvSpPr txBox="1"/>
          <p:nvPr/>
        </p:nvSpPr>
        <p:spPr>
          <a:xfrm>
            <a:off x="2567983" y="3100000"/>
            <a:ext cx="1869000" cy="450000"/>
          </a:xfrm>
          <a:prstGeom prst="rect">
            <a:avLst/>
          </a:prstGeom>
          <a:noFill/>
        </p:spPr>
        <p:txBody>
          <a:bodyPr wrap="square" lIns="0" tIns="0" rIns="0" bIns="0" anchor="t">
            <a:normAutofit/>
          </a:bodyPr>
          <a:lstStyle/>
          <a:p>
            <a:pPr algn="ctr"/>
            <a:r>
              <a:rPr lang="en-IN" sz="2000" b="1" i="0" dirty="0">
                <a:solidFill>
                  <a:srgbClr val="0532B3"/>
                </a:solidFill>
                <a:latin typeface="IBM Plex Sans SemiBold" panose="020B0503050203000203" pitchFamily="34" charset="0"/>
              </a:rPr>
              <a:t>₹909,296</a:t>
            </a:r>
          </a:p>
        </p:txBody>
      </p:sp>
      <p:sp>
        <p:nvSpPr>
          <p:cNvPr id="51" name="Text51"/>
          <p:cNvSpPr txBox="1"/>
          <p:nvPr/>
        </p:nvSpPr>
        <p:spPr>
          <a:xfrm>
            <a:off x="2567983" y="3570000"/>
            <a:ext cx="1869000" cy="380000"/>
          </a:xfrm>
          <a:prstGeom prst="rect">
            <a:avLst/>
          </a:prstGeom>
          <a:noFill/>
        </p:spPr>
        <p:txBody>
          <a:bodyPr wrap="square" lIns="0" tIns="0" rIns="0" bIns="0" anchor="t">
            <a:normAutofit/>
          </a:bodyPr>
          <a:lstStyle/>
          <a:p>
            <a:pPr algn="ctr"/>
            <a:r>
              <a:rPr lang="en-US" sz="1050" dirty="0"/>
              <a:t>Average Salary (INR)</a:t>
            </a:r>
            <a:endParaRPr lang="en-IN" sz="1050" b="0" i="0" dirty="0">
              <a:solidFill>
                <a:srgbClr val="5B6577"/>
              </a:solidFill>
              <a:latin typeface="IBM Plex Sans" panose="020B0503050203000203" pitchFamily="34" charset="0"/>
            </a:endParaRPr>
          </a:p>
        </p:txBody>
      </p:sp>
      <p:sp>
        <p:nvSpPr>
          <p:cNvPr id="32" name="Rect32"/>
          <p:cNvSpPr/>
          <p:nvPr/>
        </p:nvSpPr>
        <p:spPr>
          <a:xfrm>
            <a:off x="4646983" y="2950000"/>
            <a:ext cx="1989000" cy="1050000"/>
          </a:xfrm>
          <a:prstGeom prst="rect">
            <a:avLst/>
          </a:prstGeom>
          <a:solidFill>
            <a:srgbClr val="F4F6FB"/>
          </a:solidFill>
          <a:ln>
            <a:noFill/>
          </a:ln>
        </p:spPr>
        <p:txBody>
          <a:bodyPr/>
          <a:lstStyle/>
          <a:p>
            <a:endParaRPr/>
          </a:p>
        </p:txBody>
      </p:sp>
      <p:sp>
        <p:nvSpPr>
          <p:cNvPr id="42" name="Text42"/>
          <p:cNvSpPr txBox="1"/>
          <p:nvPr/>
        </p:nvSpPr>
        <p:spPr>
          <a:xfrm>
            <a:off x="4706983" y="3100000"/>
            <a:ext cx="1869000" cy="450000"/>
          </a:xfrm>
          <a:prstGeom prst="rect">
            <a:avLst/>
          </a:prstGeom>
          <a:noFill/>
        </p:spPr>
        <p:txBody>
          <a:bodyPr wrap="square" lIns="0" tIns="0" rIns="0" bIns="0" anchor="t">
            <a:normAutofit/>
          </a:bodyPr>
          <a:lstStyle/>
          <a:p>
            <a:pPr algn="ctr"/>
            <a:r>
              <a:rPr lang="en-IN" sz="2000" b="1" i="0" dirty="0">
                <a:solidFill>
                  <a:srgbClr val="0532B3"/>
                </a:solidFill>
                <a:latin typeface="IBM Plex Sans SemiBold" panose="020B0503050203000203" pitchFamily="34" charset="0"/>
              </a:rPr>
              <a:t>₹273,084,795</a:t>
            </a:r>
          </a:p>
        </p:txBody>
      </p:sp>
      <p:sp>
        <p:nvSpPr>
          <p:cNvPr id="52" name="Text52"/>
          <p:cNvSpPr txBox="1"/>
          <p:nvPr/>
        </p:nvSpPr>
        <p:spPr>
          <a:xfrm>
            <a:off x="4706983" y="3570000"/>
            <a:ext cx="1869000" cy="380000"/>
          </a:xfrm>
          <a:prstGeom prst="rect">
            <a:avLst/>
          </a:prstGeom>
          <a:noFill/>
        </p:spPr>
        <p:txBody>
          <a:bodyPr wrap="square" lIns="0" tIns="0" rIns="0" bIns="0" anchor="t">
            <a:normAutofit/>
          </a:bodyPr>
          <a:lstStyle/>
          <a:p>
            <a:pPr algn="ctr"/>
            <a:r>
              <a:rPr lang="en-US" sz="1050" dirty="0"/>
              <a:t>Total Loan Amount (INR)</a:t>
            </a:r>
            <a:endParaRPr lang="en-IN" sz="1050" b="0" i="0" dirty="0">
              <a:solidFill>
                <a:srgbClr val="5B6577"/>
              </a:solidFill>
              <a:latin typeface="IBM Plex Sans" panose="020B0503050203000203" pitchFamily="34" charset="0"/>
            </a:endParaRPr>
          </a:p>
        </p:txBody>
      </p:sp>
      <p:sp>
        <p:nvSpPr>
          <p:cNvPr id="33" name="Rect33"/>
          <p:cNvSpPr/>
          <p:nvPr/>
        </p:nvSpPr>
        <p:spPr>
          <a:xfrm>
            <a:off x="6785983" y="2950000"/>
            <a:ext cx="1989000" cy="1050000"/>
          </a:xfrm>
          <a:prstGeom prst="rect">
            <a:avLst/>
          </a:prstGeom>
          <a:solidFill>
            <a:srgbClr val="F4F6FB"/>
          </a:solidFill>
          <a:ln>
            <a:noFill/>
          </a:ln>
        </p:spPr>
        <p:txBody>
          <a:bodyPr/>
          <a:lstStyle/>
          <a:p>
            <a:endParaRPr/>
          </a:p>
        </p:txBody>
      </p:sp>
      <p:sp>
        <p:nvSpPr>
          <p:cNvPr id="43" name="Text43"/>
          <p:cNvSpPr txBox="1"/>
          <p:nvPr/>
        </p:nvSpPr>
        <p:spPr>
          <a:xfrm>
            <a:off x="6845983" y="3100000"/>
            <a:ext cx="1869000" cy="450000"/>
          </a:xfrm>
          <a:prstGeom prst="rect">
            <a:avLst/>
          </a:prstGeom>
          <a:noFill/>
        </p:spPr>
        <p:txBody>
          <a:bodyPr wrap="square" lIns="0" tIns="0" rIns="0" bIns="0" anchor="t">
            <a:normAutofit/>
          </a:bodyPr>
          <a:lstStyle/>
          <a:p>
            <a:pPr algn="ctr"/>
            <a:r>
              <a:rPr lang="en-IN" sz="2000" b="1" i="0" dirty="0">
                <a:solidFill>
                  <a:srgbClr val="0532B3"/>
                </a:solidFill>
                <a:latin typeface="IBM Plex Sans SemiBold" panose="020B0503050203000203" pitchFamily="34" charset="0"/>
              </a:rPr>
              <a:t>3.758</a:t>
            </a:r>
          </a:p>
        </p:txBody>
      </p:sp>
      <p:sp>
        <p:nvSpPr>
          <p:cNvPr id="53" name="Text53"/>
          <p:cNvSpPr txBox="1"/>
          <p:nvPr/>
        </p:nvSpPr>
        <p:spPr>
          <a:xfrm>
            <a:off x="6845983" y="3570000"/>
            <a:ext cx="1869000" cy="380000"/>
          </a:xfrm>
          <a:prstGeom prst="rect">
            <a:avLst/>
          </a:prstGeom>
          <a:noFill/>
        </p:spPr>
        <p:txBody>
          <a:bodyPr wrap="square" lIns="0" tIns="0" rIns="0" bIns="0" anchor="t">
            <a:normAutofit/>
          </a:bodyPr>
          <a:lstStyle/>
          <a:p>
            <a:pPr algn="ctr"/>
            <a:r>
              <a:rPr lang="en-US" sz="1050" dirty="0"/>
              <a:t>Average Performance Rating</a:t>
            </a:r>
            <a:endParaRPr lang="en-IN" sz="1050" b="0" i="0" dirty="0">
              <a:solidFill>
                <a:srgbClr val="5B6577"/>
              </a:solidFill>
              <a:latin typeface="IBM Plex Sans" panose="020B0503050203000203" pitchFamily="34" charset="0"/>
            </a:endParaRPr>
          </a:p>
        </p:txBody>
      </p:sp>
      <p:sp>
        <p:nvSpPr>
          <p:cNvPr id="60" name="Text60"/>
          <p:cNvSpPr txBox="1"/>
          <p:nvPr/>
        </p:nvSpPr>
        <p:spPr>
          <a:xfrm>
            <a:off x="1527932" y="4763500"/>
            <a:ext cx="8000000" cy="260000"/>
          </a:xfrm>
          <a:prstGeom prst="rect">
            <a:avLst/>
          </a:prstGeom>
          <a:noFill/>
        </p:spPr>
        <p:txBody>
          <a:bodyPr wrap="square" lIns="0" tIns="0" rIns="0" bIns="0" anchor="t">
            <a:normAutofit/>
          </a:bodyPr>
          <a:lstStyle/>
          <a:p>
            <a:pPr algn="l"/>
            <a:r>
              <a:rPr lang="en-IN" sz="950" b="0" i="1" dirty="0">
                <a:solidFill>
                  <a:srgbClr val="8A93A3"/>
                </a:solidFill>
                <a:latin typeface="IBM Plex Sans" panose="020B0503050203000203" pitchFamily="34" charset="0"/>
              </a:rPr>
              <a:t>Source: https://docs.google.com/spreadsheets/d/1LL2yIcGlCc-terHIT2KDfahK8C-YP508/export?format=xlsx</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
        <p:nvSpPr>
          <p:cNvPr id="7" name="Text40">
            <a:extLst>
              <a:ext uri="{FF2B5EF4-FFF2-40B4-BE49-F238E27FC236}">
                <a16:creationId xmlns:a16="http://schemas.microsoft.com/office/drawing/2014/main" id="{6A08387F-CBA3-685F-5A36-BB11CC4683D7}"/>
              </a:ext>
            </a:extLst>
          </p:cNvPr>
          <p:cNvSpPr txBox="1"/>
          <p:nvPr/>
        </p:nvSpPr>
        <p:spPr>
          <a:xfrm>
            <a:off x="488983" y="3897610"/>
            <a:ext cx="1869000" cy="450000"/>
          </a:xfrm>
          <a:prstGeom prst="rect">
            <a:avLst/>
          </a:prstGeom>
          <a:noFill/>
        </p:spPr>
        <p:txBody>
          <a:bodyPr wrap="square" lIns="0" tIns="0" rIns="0" bIns="0" anchor="t">
            <a:normAutofit/>
          </a:bodyPr>
          <a:lstStyle/>
          <a:p>
            <a:pPr algn="ctr"/>
            <a:r>
              <a:rPr lang="en-IN" sz="2000" b="1" i="0" dirty="0">
                <a:solidFill>
                  <a:srgbClr val="0532B3"/>
                </a:solidFill>
                <a:latin typeface="IBM Plex Sans SemiBold" panose="020B0503050203000203" pitchFamily="34" charset="0"/>
              </a:rPr>
              <a:t>12.56%</a:t>
            </a:r>
          </a:p>
        </p:txBody>
      </p:sp>
      <p:sp>
        <p:nvSpPr>
          <p:cNvPr id="12" name="Text50">
            <a:extLst>
              <a:ext uri="{FF2B5EF4-FFF2-40B4-BE49-F238E27FC236}">
                <a16:creationId xmlns:a16="http://schemas.microsoft.com/office/drawing/2014/main" id="{6C18397F-1559-16D8-8F0B-59F91BAAAB3D}"/>
              </a:ext>
            </a:extLst>
          </p:cNvPr>
          <p:cNvSpPr txBox="1"/>
          <p:nvPr/>
        </p:nvSpPr>
        <p:spPr>
          <a:xfrm>
            <a:off x="444412" y="4356582"/>
            <a:ext cx="1869000" cy="380000"/>
          </a:xfrm>
          <a:prstGeom prst="rect">
            <a:avLst/>
          </a:prstGeom>
          <a:noFill/>
        </p:spPr>
        <p:txBody>
          <a:bodyPr wrap="square" lIns="0" tIns="0" rIns="0" bIns="0" anchor="t">
            <a:normAutofit/>
          </a:bodyPr>
          <a:lstStyle/>
          <a:p>
            <a:pPr algn="ctr"/>
            <a:r>
              <a:rPr lang="en-US" sz="1050" dirty="0"/>
              <a:t>Average Bonus (%)</a:t>
            </a:r>
            <a:endParaRPr lang="en-IN" sz="1050" b="0" i="0" dirty="0">
              <a:solidFill>
                <a:srgbClr val="5B6577"/>
              </a:solidFill>
              <a:latin typeface="IBM Plex Sans" panose="020B0503050203000203" pitchFamily="34" charset="0"/>
            </a:endParaRPr>
          </a:p>
        </p:txBody>
      </p:sp>
      <p:sp>
        <p:nvSpPr>
          <p:cNvPr id="14" name="Text40">
            <a:extLst>
              <a:ext uri="{FF2B5EF4-FFF2-40B4-BE49-F238E27FC236}">
                <a16:creationId xmlns:a16="http://schemas.microsoft.com/office/drawing/2014/main" id="{3A9EBBAA-A32F-4484-3B60-71296B0C218F}"/>
              </a:ext>
            </a:extLst>
          </p:cNvPr>
          <p:cNvSpPr txBox="1"/>
          <p:nvPr/>
        </p:nvSpPr>
        <p:spPr>
          <a:xfrm>
            <a:off x="2462983" y="3897610"/>
            <a:ext cx="1869000" cy="450000"/>
          </a:xfrm>
          <a:prstGeom prst="rect">
            <a:avLst/>
          </a:prstGeom>
          <a:noFill/>
        </p:spPr>
        <p:txBody>
          <a:bodyPr wrap="square" lIns="0" tIns="0" rIns="0" bIns="0" anchor="t">
            <a:normAutofit/>
          </a:bodyPr>
          <a:lstStyle/>
          <a:p>
            <a:pPr algn="ctr"/>
            <a:r>
              <a:rPr lang="en-IN" sz="2000" b="1" i="0" dirty="0">
                <a:solidFill>
                  <a:srgbClr val="0532B3"/>
                </a:solidFill>
                <a:latin typeface="IBM Plex Sans SemiBold" panose="020B0503050203000203" pitchFamily="34" charset="0"/>
              </a:rPr>
              <a:t>7.479%</a:t>
            </a:r>
          </a:p>
        </p:txBody>
      </p:sp>
      <p:sp>
        <p:nvSpPr>
          <p:cNvPr id="16" name="Text50">
            <a:extLst>
              <a:ext uri="{FF2B5EF4-FFF2-40B4-BE49-F238E27FC236}">
                <a16:creationId xmlns:a16="http://schemas.microsoft.com/office/drawing/2014/main" id="{54C45158-4A2F-DA11-50FA-F977EE8EB63C}"/>
              </a:ext>
            </a:extLst>
          </p:cNvPr>
          <p:cNvSpPr txBox="1"/>
          <p:nvPr/>
        </p:nvSpPr>
        <p:spPr>
          <a:xfrm>
            <a:off x="2507983" y="4295220"/>
            <a:ext cx="1869000" cy="380000"/>
          </a:xfrm>
          <a:prstGeom prst="rect">
            <a:avLst/>
          </a:prstGeom>
          <a:noFill/>
        </p:spPr>
        <p:txBody>
          <a:bodyPr wrap="square" lIns="0" tIns="0" rIns="0" bIns="0" anchor="t">
            <a:normAutofit/>
          </a:bodyPr>
          <a:lstStyle/>
          <a:p>
            <a:pPr algn="ctr"/>
            <a:r>
              <a:rPr lang="en-US" sz="1050" dirty="0"/>
              <a:t>Average Interest Rate (%) </a:t>
            </a:r>
            <a:endParaRPr lang="en-IN" sz="1050" i="0" dirty="0">
              <a:solidFill>
                <a:srgbClr val="5B6577"/>
              </a:solidFill>
              <a:latin typeface="IBM Plex Sans" panose="020B050305020300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48000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Problem Statement</a:t>
            </a:r>
          </a:p>
        </p:txBody>
      </p:sp>
      <p:sp>
        <p:nvSpPr>
          <p:cNvPr id="9" name="Subtitle"/>
          <p:cNvSpPr txBox="1"/>
          <p:nvPr/>
        </p:nvSpPr>
        <p:spPr>
          <a:xfrm>
            <a:off x="368983" y="1130000"/>
            <a:ext cx="7900000" cy="260000"/>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Census data is rich, but hard to access, interpret and compare</a:t>
            </a:r>
          </a:p>
        </p:txBody>
      </p:sp>
      <p:sp>
        <p:nvSpPr>
          <p:cNvPr id="20" name="Rect20"/>
          <p:cNvSpPr/>
          <p:nvPr/>
        </p:nvSpPr>
        <p:spPr>
          <a:xfrm>
            <a:off x="368983" y="1650000"/>
            <a:ext cx="4050000" cy="3150000"/>
          </a:xfrm>
          <a:prstGeom prst="rect">
            <a:avLst/>
          </a:prstGeom>
          <a:solidFill>
            <a:srgbClr val="FBEFE6"/>
          </a:solidFill>
          <a:ln>
            <a:noFill/>
          </a:ln>
        </p:spPr>
        <p:txBody>
          <a:bodyPr/>
          <a:lstStyle/>
          <a:p>
            <a:endParaRPr/>
          </a:p>
        </p:txBody>
      </p:sp>
      <p:sp>
        <p:nvSpPr>
          <p:cNvPr id="21" name="Rect21"/>
          <p:cNvSpPr/>
          <p:nvPr/>
        </p:nvSpPr>
        <p:spPr>
          <a:xfrm>
            <a:off x="4618983" y="1650000"/>
            <a:ext cx="4050000" cy="3150000"/>
          </a:xfrm>
          <a:prstGeom prst="rect">
            <a:avLst/>
          </a:prstGeom>
          <a:solidFill>
            <a:srgbClr val="EDF1FC"/>
          </a:solidFill>
          <a:ln>
            <a:noFill/>
          </a:ln>
        </p:spPr>
        <p:txBody>
          <a:bodyPr/>
          <a:lstStyle/>
          <a:p>
            <a:endParaRPr/>
          </a:p>
        </p:txBody>
      </p:sp>
      <p:sp>
        <p:nvSpPr>
          <p:cNvPr id="30" name="Circle30"/>
          <p:cNvSpPr/>
          <p:nvPr/>
        </p:nvSpPr>
        <p:spPr>
          <a:xfrm>
            <a:off x="598983" y="1880000"/>
            <a:ext cx="420000" cy="420000"/>
          </a:xfrm>
          <a:prstGeom prst="ellipse">
            <a:avLst/>
          </a:prstGeom>
          <a:solidFill>
            <a:srgbClr val="F2994A"/>
          </a:solidFill>
          <a:ln>
            <a:noFill/>
          </a:ln>
        </p:spPr>
        <p:txBody>
          <a:bodyPr/>
          <a:lstStyle/>
          <a:p>
            <a:endParaRPr/>
          </a:p>
        </p:txBody>
      </p:sp>
      <p:sp>
        <p:nvSpPr>
          <p:cNvPr id="31" name="Circle31"/>
          <p:cNvSpPr/>
          <p:nvPr/>
        </p:nvSpPr>
        <p:spPr>
          <a:xfrm>
            <a:off x="4848983" y="1880000"/>
            <a:ext cx="420000" cy="420000"/>
          </a:xfrm>
          <a:prstGeom prst="ellipse">
            <a:avLst/>
          </a:prstGeom>
          <a:solidFill>
            <a:srgbClr val="0532B3"/>
          </a:solidFill>
          <a:ln>
            <a:noFill/>
          </a:ln>
        </p:spPr>
        <p:txBody>
          <a:bodyPr/>
          <a:lstStyle/>
          <a:p>
            <a:endParaRPr/>
          </a:p>
        </p:txBody>
      </p:sp>
      <p:sp>
        <p:nvSpPr>
          <p:cNvPr id="40" name="Text40"/>
          <p:cNvSpPr txBox="1"/>
          <p:nvPr/>
        </p:nvSpPr>
        <p:spPr>
          <a:xfrm>
            <a:off x="598983" y="1900000"/>
            <a:ext cx="60000" cy="380000"/>
          </a:xfrm>
          <a:prstGeom prst="rect">
            <a:avLst/>
          </a:prstGeom>
          <a:noFill/>
        </p:spPr>
        <p:txBody>
          <a:bodyPr wrap="square" lIns="0" tIns="0" rIns="0" bIns="0" anchor="ctr">
            <a:normAutofit/>
          </a:bodyPr>
          <a:lstStyle/>
          <a:p>
            <a:pPr algn="ctr"/>
            <a:r>
              <a:rPr lang="en-IN" sz="1800" b="1" i="0" dirty="0">
                <a:solidFill>
                  <a:srgbClr val="FFFFFF"/>
                </a:solidFill>
                <a:latin typeface="IBM Plex Sans SemiBold" panose="020B0503050203000203" pitchFamily="34" charset="0"/>
              </a:rPr>
              <a:t>!</a:t>
            </a:r>
          </a:p>
        </p:txBody>
      </p:sp>
      <p:sp>
        <p:nvSpPr>
          <p:cNvPr id="41" name="Text41"/>
          <p:cNvSpPr txBox="1"/>
          <p:nvPr/>
        </p:nvSpPr>
        <p:spPr>
          <a:xfrm>
            <a:off x="4848983" y="1900000"/>
            <a:ext cx="60000" cy="380000"/>
          </a:xfrm>
          <a:prstGeom prst="rect">
            <a:avLst/>
          </a:prstGeom>
          <a:noFill/>
        </p:spPr>
        <p:txBody>
          <a:bodyPr wrap="square" lIns="0" tIns="0" rIns="0" bIns="0" anchor="ctr">
            <a:normAutofit/>
          </a:bodyPr>
          <a:lstStyle/>
          <a:p>
            <a:pPr algn="ctr"/>
            <a:r>
              <a:rPr lang="en-IN" sz="1800" b="1" i="0" dirty="0">
                <a:solidFill>
                  <a:srgbClr val="FFFFFF"/>
                </a:solidFill>
                <a:latin typeface="IBM Plex Sans SemiBold" panose="020B0503050203000203" pitchFamily="34" charset="0"/>
              </a:rPr>
              <a:t>i</a:t>
            </a:r>
          </a:p>
        </p:txBody>
      </p:sp>
      <p:sp>
        <p:nvSpPr>
          <p:cNvPr id="50" name="Text50"/>
          <p:cNvSpPr txBox="1"/>
          <p:nvPr/>
        </p:nvSpPr>
        <p:spPr>
          <a:xfrm>
            <a:off x="598983" y="2390000"/>
            <a:ext cx="3590000" cy="400000"/>
          </a:xfrm>
          <a:prstGeom prst="rect">
            <a:avLst/>
          </a:prstGeom>
          <a:noFill/>
        </p:spPr>
        <p:txBody>
          <a:bodyPr wrap="square" lIns="0" tIns="0" rIns="0" bIns="0" anchor="t">
            <a:normAutofit/>
          </a:bodyPr>
          <a:lstStyle/>
          <a:p>
            <a:pPr algn="l"/>
            <a:r>
              <a:rPr lang="en-IN" sz="1600" b="1" i="0" dirty="0">
                <a:solidFill>
                  <a:srgbClr val="B85042"/>
                </a:solidFill>
                <a:latin typeface="IBM Plex Sans SemiBold" panose="020B0503050203000203" pitchFamily="34" charset="0"/>
              </a:rPr>
              <a:t>The Challenge Today</a:t>
            </a:r>
          </a:p>
        </p:txBody>
      </p:sp>
      <p:sp>
        <p:nvSpPr>
          <p:cNvPr id="51" name="Text51"/>
          <p:cNvSpPr txBox="1"/>
          <p:nvPr/>
        </p:nvSpPr>
        <p:spPr>
          <a:xfrm>
            <a:off x="4848983" y="2390000"/>
            <a:ext cx="3590000" cy="400000"/>
          </a:xfrm>
          <a:prstGeom prst="rect">
            <a:avLst/>
          </a:prstGeom>
          <a:noFill/>
        </p:spPr>
        <p:txBody>
          <a:bodyPr wrap="square" lIns="0" tIns="0" rIns="0" bIns="0" anchor="t">
            <a:normAutofit/>
          </a:bodyPr>
          <a:lstStyle/>
          <a:p>
            <a:pPr algn="l"/>
            <a:r>
              <a:rPr lang="en-IN" sz="1600" b="1" i="0" dirty="0">
                <a:solidFill>
                  <a:srgbClr val="0532B3"/>
                </a:solidFill>
                <a:latin typeface="IBM Plex Sans SemiBold" panose="020B0503050203000203" pitchFamily="34" charset="0"/>
              </a:rPr>
              <a:t>Our Approach</a:t>
            </a:r>
          </a:p>
        </p:txBody>
      </p:sp>
      <p:sp>
        <p:nvSpPr>
          <p:cNvPr id="60" name="Bullets60"/>
          <p:cNvSpPr txBox="1"/>
          <p:nvPr/>
        </p:nvSpPr>
        <p:spPr>
          <a:xfrm>
            <a:off x="598983" y="2900000"/>
            <a:ext cx="3590000" cy="1700000"/>
          </a:xfrm>
          <a:prstGeom prst="rect">
            <a:avLst/>
          </a:prstGeom>
          <a:noFill/>
        </p:spPr>
        <p:txBody>
          <a:bodyPr wrap="square" lIns="0" tIns="0" rIns="0" bIns="0">
            <a:normAutofit/>
          </a:bodyPr>
          <a:lstStyle/>
          <a:p>
            <a:pPr marL="228600" indent="-228600">
              <a:buClr>
                <a:srgbClr val="B85042"/>
              </a:buClr>
              <a:buFont typeface="Arial"/>
              <a:buChar char="▪"/>
            </a:pPr>
            <a:r>
              <a:rPr lang="en-US" sz="1300" dirty="0">
                <a:solidFill>
                  <a:srgbClr val="333A47"/>
                </a:solidFill>
                <a:latin typeface="IBM Plex Sans" panose="020B0503050203000203" pitchFamily="34" charset="0"/>
              </a:rPr>
              <a:t>Employee data is stored in spreadsheets.</a:t>
            </a:r>
          </a:p>
          <a:p>
            <a:pPr marL="228600" indent="-228600">
              <a:buClr>
                <a:srgbClr val="B85042"/>
              </a:buClr>
              <a:buFont typeface="Arial"/>
              <a:buChar char="▪"/>
            </a:pPr>
            <a:r>
              <a:rPr lang="en-US" sz="1300" dirty="0">
                <a:solidFill>
                  <a:srgbClr val="333A47"/>
                </a:solidFill>
                <a:latin typeface="IBM Plex Sans" panose="020B0503050203000203" pitchFamily="34" charset="0"/>
              </a:rPr>
              <a:t>Manual analysis takes significant time.</a:t>
            </a:r>
          </a:p>
          <a:p>
            <a:pPr marL="228600" indent="-228600">
              <a:buClr>
                <a:srgbClr val="B85042"/>
              </a:buClr>
              <a:buFont typeface="Arial"/>
              <a:buChar char="▪"/>
            </a:pPr>
            <a:r>
              <a:rPr lang="en-US" sz="1300" dirty="0">
                <a:solidFill>
                  <a:srgbClr val="333A47"/>
                </a:solidFill>
                <a:latin typeface="IBM Plex Sans" panose="020B0503050203000203" pitchFamily="34" charset="0"/>
              </a:rPr>
              <a:t>Difficult to compare departments.</a:t>
            </a:r>
          </a:p>
          <a:p>
            <a:pPr marL="228600" indent="-228600">
              <a:buClr>
                <a:srgbClr val="B85042"/>
              </a:buClr>
              <a:buFont typeface="Arial"/>
              <a:buChar char="▪"/>
            </a:pPr>
            <a:r>
              <a:rPr lang="en-US" sz="1300" dirty="0">
                <a:solidFill>
                  <a:srgbClr val="333A47"/>
                </a:solidFill>
                <a:latin typeface="IBM Plex Sans" panose="020B0503050203000203" pitchFamily="34" charset="0"/>
              </a:rPr>
              <a:t>Performance trends are not easily identified.</a:t>
            </a:r>
          </a:p>
          <a:p>
            <a:pPr marL="228600" indent="-228600">
              <a:buClr>
                <a:srgbClr val="B85042"/>
              </a:buClr>
              <a:buFont typeface="Arial"/>
              <a:buChar char="▪"/>
            </a:pPr>
            <a:r>
              <a:rPr lang="en-US" sz="1300" dirty="0">
                <a:solidFill>
                  <a:srgbClr val="333A47"/>
                </a:solidFill>
                <a:latin typeface="IBM Plex Sans" panose="020B0503050203000203" pitchFamily="34" charset="0"/>
              </a:rPr>
              <a:t>Decision-making becomes less efficient.</a:t>
            </a:r>
            <a:endParaRPr lang="en-IN" sz="1300" dirty="0">
              <a:solidFill>
                <a:srgbClr val="333A47"/>
              </a:solidFill>
              <a:latin typeface="IBM Plex Sans" panose="020B0503050203000203" pitchFamily="34" charset="0"/>
            </a:endParaRPr>
          </a:p>
        </p:txBody>
      </p:sp>
      <p:sp>
        <p:nvSpPr>
          <p:cNvPr id="70" name="Bullets70"/>
          <p:cNvSpPr txBox="1"/>
          <p:nvPr/>
        </p:nvSpPr>
        <p:spPr>
          <a:xfrm>
            <a:off x="4848983" y="2900000"/>
            <a:ext cx="3590000" cy="1700000"/>
          </a:xfrm>
          <a:prstGeom prst="rect">
            <a:avLst/>
          </a:prstGeom>
          <a:noFill/>
        </p:spPr>
        <p:txBody>
          <a:bodyPr wrap="square" lIns="0" tIns="0" rIns="0" bIns="0">
            <a:normAutofit/>
          </a:bodyPr>
          <a:lstStyle/>
          <a:p>
            <a:pPr marL="228600" indent="-228600">
              <a:buClr>
                <a:srgbClr val="0532B3"/>
              </a:buClr>
              <a:buFont typeface="Arial"/>
              <a:buChar char="▪"/>
            </a:pPr>
            <a:r>
              <a:rPr lang="en-US" sz="1200" dirty="0"/>
              <a:t>Develop an interactive Tableau dashboard that transforms employee data into visual insights, enabling quick analysis of performance, salaries, loans, bonuses, and quarterly sales.</a:t>
            </a:r>
            <a:endParaRPr lang="en-IN" sz="1300" dirty="0">
              <a:solidFill>
                <a:srgbClr val="333A47"/>
              </a:solidFill>
              <a:latin typeface="IBM Plex Sans" panose="020B0503050203000203" pitchFamily="34" charset="0"/>
            </a:endParaRP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48000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Project Objectives</a:t>
            </a:r>
          </a:p>
        </p:txBody>
      </p:sp>
      <p:sp>
        <p:nvSpPr>
          <p:cNvPr id="9" name="Subtitle"/>
          <p:cNvSpPr txBox="1"/>
          <p:nvPr/>
        </p:nvSpPr>
        <p:spPr>
          <a:xfrm>
            <a:off x="368983" y="1130000"/>
            <a:ext cx="7900000" cy="260000"/>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What the dashboard is designed to achieve</a:t>
            </a:r>
          </a:p>
        </p:txBody>
      </p:sp>
      <p:sp>
        <p:nvSpPr>
          <p:cNvPr id="400" name="ObjText0"/>
          <p:cNvSpPr txBox="1"/>
          <p:nvPr/>
        </p:nvSpPr>
        <p:spPr>
          <a:xfrm>
            <a:off x="790760" y="2571750"/>
            <a:ext cx="7800000" cy="850000"/>
          </a:xfrm>
          <a:prstGeom prst="rect">
            <a:avLst/>
          </a:prstGeom>
          <a:noFill/>
        </p:spPr>
        <p:txBody>
          <a:bodyPr wrap="square" lIns="0" tIns="0" rIns="0" bIns="0" anchor="ctr">
            <a:noAutofit/>
          </a:bodyPr>
          <a:lstStyle/>
          <a:p>
            <a:pPr marL="285750" indent="-285750">
              <a:buFont typeface="Wingdings" panose="05000000000000000000" pitchFamily="2" charset="2"/>
              <a:buChar char="§"/>
            </a:pPr>
            <a:r>
              <a:rPr lang="en-US" sz="1800" dirty="0"/>
              <a:t>Develop an interactive Tableau dashboard. </a:t>
            </a:r>
          </a:p>
          <a:p>
            <a:pPr marL="285750" indent="-285750">
              <a:buFont typeface="Wingdings" panose="05000000000000000000" pitchFamily="2" charset="2"/>
              <a:buChar char="§"/>
            </a:pPr>
            <a:r>
              <a:rPr lang="en-US" sz="1800" dirty="0"/>
              <a:t>Analyze employee distribution across departments. </a:t>
            </a:r>
          </a:p>
          <a:p>
            <a:pPr marL="285750" indent="-285750">
              <a:buFont typeface="Wingdings" panose="05000000000000000000" pitchFamily="2" charset="2"/>
              <a:buChar char="§"/>
            </a:pPr>
            <a:r>
              <a:rPr lang="en-US" sz="1800" dirty="0"/>
              <a:t>Compare salary and loan amount by department. </a:t>
            </a:r>
          </a:p>
          <a:p>
            <a:pPr marL="285750" indent="-285750">
              <a:buFont typeface="Wingdings" panose="05000000000000000000" pitchFamily="2" charset="2"/>
              <a:buChar char="§"/>
            </a:pPr>
            <a:r>
              <a:rPr lang="en-US" sz="1800" dirty="0"/>
              <a:t>Visualize employee performance ratings. </a:t>
            </a:r>
          </a:p>
          <a:p>
            <a:pPr marL="285750" indent="-285750">
              <a:buFont typeface="Wingdings" panose="05000000000000000000" pitchFamily="2" charset="2"/>
              <a:buChar char="§"/>
            </a:pPr>
            <a:r>
              <a:rPr lang="en-US" sz="1800" dirty="0"/>
              <a:t>Analyze bonus distribution. </a:t>
            </a:r>
          </a:p>
          <a:p>
            <a:pPr marL="285750" indent="-285750">
              <a:buFont typeface="Wingdings" panose="05000000000000000000" pitchFamily="2" charset="2"/>
              <a:buChar char="§"/>
            </a:pPr>
            <a:r>
              <a:rPr lang="en-US" sz="1800" dirty="0"/>
              <a:t>Compare quarterly sales by location. </a:t>
            </a:r>
          </a:p>
          <a:p>
            <a:pPr marL="285750" indent="-285750">
              <a:buFont typeface="Wingdings" panose="05000000000000000000" pitchFamily="2" charset="2"/>
              <a:buChar char="§"/>
            </a:pPr>
            <a:r>
              <a:rPr lang="en-US" sz="1800" dirty="0"/>
              <a:t>Identify relationships between bonus percentage and performance rating. </a:t>
            </a:r>
          </a:p>
          <a:p>
            <a:pPr marL="285750" indent="-285750">
              <a:buFont typeface="Wingdings" panose="05000000000000000000" pitchFamily="2" charset="2"/>
              <a:buChar char="§"/>
            </a:pPr>
            <a:r>
              <a:rPr lang="en-US" sz="1800" dirty="0"/>
              <a:t>Support data-driven HR and financial decision-making. </a:t>
            </a:r>
          </a:p>
          <a:p>
            <a:endParaRPr lang="en-IN" sz="2000" dirty="0">
              <a:solidFill>
                <a:srgbClr val="333A47"/>
              </a:solidFill>
              <a:latin typeface="IBM Plex Sans" panose="020B0503050203000203" pitchFamily="34" charset="0"/>
            </a:endParaRP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48000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Dataset Description</a:t>
            </a:r>
          </a:p>
        </p:txBody>
      </p:sp>
      <p:sp>
        <p:nvSpPr>
          <p:cNvPr id="9" name="Subtitle"/>
          <p:cNvSpPr txBox="1"/>
          <p:nvPr/>
        </p:nvSpPr>
        <p:spPr>
          <a:xfrm>
            <a:off x="368983" y="1130000"/>
            <a:ext cx="7900000" cy="276999"/>
          </a:xfrm>
          <a:prstGeom prst="rect">
            <a:avLst/>
          </a:prstGeom>
          <a:noFill/>
        </p:spPr>
        <p:txBody>
          <a:bodyPr wrap="square" rtlCol="0">
            <a:spAutoFit/>
          </a:bodyPr>
          <a:lstStyle/>
          <a:p>
            <a:r>
              <a:rPr lang="en-US" sz="1200" dirty="0"/>
              <a:t>Employee workforce and financial dataset powering the dashboard</a:t>
            </a:r>
            <a:endParaRPr lang="en-IN" sz="1200" i="1" dirty="0">
              <a:solidFill>
                <a:srgbClr val="5B6577"/>
              </a:solidFill>
              <a:latin typeface="IBM Plex Sans" panose="020B0503050203000203" pitchFamily="34" charset="0"/>
            </a:endParaRPr>
          </a:p>
        </p:txBody>
      </p:sp>
      <p:sp>
        <p:nvSpPr>
          <p:cNvPr id="20" name="Rect20"/>
          <p:cNvSpPr/>
          <p:nvPr/>
        </p:nvSpPr>
        <p:spPr>
          <a:xfrm>
            <a:off x="700000" y="1750000"/>
            <a:ext cx="7744034" cy="1250000"/>
          </a:xfrm>
          <a:prstGeom prst="rect">
            <a:avLst/>
          </a:prstGeom>
          <a:solidFill>
            <a:srgbClr val="EDF1FC"/>
          </a:solidFill>
          <a:ln>
            <a:noFill/>
          </a:ln>
        </p:spPr>
        <p:txBody>
          <a:bodyPr/>
          <a:lstStyle/>
          <a:p>
            <a:endParaRPr/>
          </a:p>
        </p:txBody>
      </p:sp>
      <p:sp>
        <p:nvSpPr>
          <p:cNvPr id="30" name="Text30"/>
          <p:cNvSpPr txBox="1"/>
          <p:nvPr/>
        </p:nvSpPr>
        <p:spPr>
          <a:xfrm>
            <a:off x="1050000" y="1930000"/>
            <a:ext cx="7044034" cy="890000"/>
          </a:xfrm>
          <a:prstGeom prst="rect">
            <a:avLst/>
          </a:prstGeom>
          <a:noFill/>
        </p:spPr>
        <p:txBody>
          <a:bodyPr wrap="square" lIns="0" tIns="0" rIns="0" bIns="0" anchor="ctr">
            <a:normAutofit/>
          </a:bodyPr>
          <a:lstStyle/>
          <a:p>
            <a:pPr algn="ctr"/>
            <a:r>
              <a:rPr lang="en-IN" sz="1700" b="1" i="1" dirty="0">
                <a:solidFill>
                  <a:srgbClr val="0532B3"/>
                </a:solidFill>
                <a:latin typeface="IBM Plex Sans SemiBold" panose="020B0503050203000203" pitchFamily="34" charset="0"/>
              </a:rPr>
              <a:t>Employee Performance Dataset</a:t>
            </a:r>
          </a:p>
        </p:txBody>
      </p:sp>
      <p:sp>
        <p:nvSpPr>
          <p:cNvPr id="40" name="Rect40"/>
          <p:cNvSpPr/>
          <p:nvPr/>
        </p:nvSpPr>
        <p:spPr>
          <a:xfrm>
            <a:off x="700000" y="3250000"/>
            <a:ext cx="2448011" cy="700000"/>
          </a:xfrm>
          <a:prstGeom prst="rect">
            <a:avLst/>
          </a:prstGeom>
          <a:solidFill>
            <a:srgbClr val="F4F6FB"/>
          </a:solidFill>
          <a:ln>
            <a:noFill/>
          </a:ln>
        </p:spPr>
        <p:txBody>
          <a:bodyPr/>
          <a:lstStyle/>
          <a:p>
            <a:endParaRPr/>
          </a:p>
        </p:txBody>
      </p:sp>
      <p:sp>
        <p:nvSpPr>
          <p:cNvPr id="50" name="Text50"/>
          <p:cNvSpPr txBox="1"/>
          <p:nvPr/>
        </p:nvSpPr>
        <p:spPr>
          <a:xfrm>
            <a:off x="850000" y="3340000"/>
            <a:ext cx="2148011" cy="280000"/>
          </a:xfrm>
          <a:prstGeom prst="rect">
            <a:avLst/>
          </a:prstGeom>
          <a:noFill/>
        </p:spPr>
        <p:txBody>
          <a:bodyPr wrap="square" lIns="0" tIns="0" rIns="0" bIns="0" anchor="t">
            <a:normAutofit/>
          </a:bodyPr>
          <a:lstStyle/>
          <a:p>
            <a:pPr algn="l"/>
            <a:r>
              <a:rPr lang="en-IN" sz="950" b="1" i="0" dirty="0">
                <a:solidFill>
                  <a:srgbClr val="F2994A"/>
                </a:solidFill>
                <a:latin typeface="IBM Plex Sans SemiBold" panose="020B0503050203000203" pitchFamily="34" charset="0"/>
              </a:rPr>
              <a:t>SOURCE</a:t>
            </a:r>
          </a:p>
        </p:txBody>
      </p:sp>
      <p:sp>
        <p:nvSpPr>
          <p:cNvPr id="60" name="Text60"/>
          <p:cNvSpPr txBox="1"/>
          <p:nvPr/>
        </p:nvSpPr>
        <p:spPr>
          <a:xfrm>
            <a:off x="850000" y="3590000"/>
            <a:ext cx="2148011" cy="320000"/>
          </a:xfrm>
          <a:prstGeom prst="rect">
            <a:avLst/>
          </a:prstGeom>
          <a:noFill/>
        </p:spPr>
        <p:txBody>
          <a:bodyPr wrap="square" lIns="0" tIns="0" rIns="0" bIns="0" anchor="t">
            <a:normAutofit fontScale="92500" lnSpcReduction="10000"/>
          </a:bodyPr>
          <a:lstStyle/>
          <a:p>
            <a:r>
              <a:rPr lang="en-US" sz="1200" dirty="0"/>
              <a:t>Employee Performance &amp; Financial Dataset</a:t>
            </a:r>
            <a:endParaRPr lang="en-IN" sz="1150" b="1" i="0" dirty="0">
              <a:solidFill>
                <a:srgbClr val="1B1E29"/>
              </a:solidFill>
              <a:latin typeface="IBM Plex Sans SemiBold" panose="020B0503050203000203" pitchFamily="34" charset="0"/>
            </a:endParaRPr>
          </a:p>
        </p:txBody>
      </p:sp>
      <p:sp>
        <p:nvSpPr>
          <p:cNvPr id="41" name="Rect41"/>
          <p:cNvSpPr/>
          <p:nvPr/>
        </p:nvSpPr>
        <p:spPr>
          <a:xfrm>
            <a:off x="3248011" y="3250000"/>
            <a:ext cx="2448011" cy="700000"/>
          </a:xfrm>
          <a:prstGeom prst="rect">
            <a:avLst/>
          </a:prstGeom>
          <a:solidFill>
            <a:srgbClr val="F4F6FB"/>
          </a:solidFill>
          <a:ln>
            <a:noFill/>
          </a:ln>
        </p:spPr>
        <p:txBody>
          <a:bodyPr/>
          <a:lstStyle/>
          <a:p>
            <a:endParaRPr/>
          </a:p>
        </p:txBody>
      </p:sp>
      <p:sp>
        <p:nvSpPr>
          <p:cNvPr id="51" name="Text51"/>
          <p:cNvSpPr txBox="1"/>
          <p:nvPr/>
        </p:nvSpPr>
        <p:spPr>
          <a:xfrm>
            <a:off x="3398011" y="3340000"/>
            <a:ext cx="2148011" cy="280000"/>
          </a:xfrm>
          <a:prstGeom prst="rect">
            <a:avLst/>
          </a:prstGeom>
          <a:noFill/>
        </p:spPr>
        <p:txBody>
          <a:bodyPr wrap="square" lIns="0" tIns="0" rIns="0" bIns="0" anchor="t">
            <a:normAutofit/>
          </a:bodyPr>
          <a:lstStyle/>
          <a:p>
            <a:pPr algn="l"/>
            <a:r>
              <a:rPr lang="en-IN" sz="950" b="1" i="0" dirty="0">
                <a:solidFill>
                  <a:srgbClr val="F2994A"/>
                </a:solidFill>
                <a:latin typeface="IBM Plex Sans SemiBold" panose="020B0503050203000203" pitchFamily="34" charset="0"/>
              </a:rPr>
              <a:t>COVERAGE</a:t>
            </a:r>
          </a:p>
        </p:txBody>
      </p:sp>
      <p:sp>
        <p:nvSpPr>
          <p:cNvPr id="61" name="Text61"/>
          <p:cNvSpPr txBox="1"/>
          <p:nvPr/>
        </p:nvSpPr>
        <p:spPr>
          <a:xfrm>
            <a:off x="3398011" y="3590000"/>
            <a:ext cx="2148011" cy="320000"/>
          </a:xfrm>
          <a:prstGeom prst="rect">
            <a:avLst/>
          </a:prstGeom>
          <a:noFill/>
        </p:spPr>
        <p:txBody>
          <a:bodyPr wrap="square" lIns="0" tIns="0" rIns="0" bIns="0" anchor="t">
            <a:normAutofit fontScale="85000" lnSpcReduction="10000"/>
          </a:bodyPr>
          <a:lstStyle/>
          <a:p>
            <a:r>
              <a:rPr lang="en-US" sz="1200" dirty="0"/>
              <a:t>Employee-level data across multiple departments and office locations</a:t>
            </a:r>
            <a:endParaRPr lang="en-IN" sz="1150" b="1" i="0" dirty="0">
              <a:solidFill>
                <a:srgbClr val="1B1E29"/>
              </a:solidFill>
              <a:latin typeface="IBM Plex Sans SemiBold" panose="020B0503050203000203" pitchFamily="34" charset="0"/>
            </a:endParaRPr>
          </a:p>
        </p:txBody>
      </p:sp>
      <p:sp>
        <p:nvSpPr>
          <p:cNvPr id="42" name="Rect42"/>
          <p:cNvSpPr/>
          <p:nvPr/>
        </p:nvSpPr>
        <p:spPr>
          <a:xfrm>
            <a:off x="5796022" y="3250000"/>
            <a:ext cx="2448011" cy="700000"/>
          </a:xfrm>
          <a:prstGeom prst="rect">
            <a:avLst/>
          </a:prstGeom>
          <a:solidFill>
            <a:srgbClr val="F4F6FB"/>
          </a:solidFill>
          <a:ln>
            <a:noFill/>
          </a:ln>
        </p:spPr>
        <p:txBody>
          <a:bodyPr/>
          <a:lstStyle/>
          <a:p>
            <a:endParaRPr/>
          </a:p>
        </p:txBody>
      </p:sp>
      <p:sp>
        <p:nvSpPr>
          <p:cNvPr id="52" name="Text52"/>
          <p:cNvSpPr txBox="1"/>
          <p:nvPr/>
        </p:nvSpPr>
        <p:spPr>
          <a:xfrm>
            <a:off x="5946022" y="3340000"/>
            <a:ext cx="2148011" cy="280000"/>
          </a:xfrm>
          <a:prstGeom prst="rect">
            <a:avLst/>
          </a:prstGeom>
          <a:noFill/>
        </p:spPr>
        <p:txBody>
          <a:bodyPr wrap="square" lIns="0" tIns="0" rIns="0" bIns="0" anchor="t">
            <a:normAutofit/>
          </a:bodyPr>
          <a:lstStyle/>
          <a:p>
            <a:pPr algn="l"/>
            <a:r>
              <a:rPr lang="en-IN" sz="950" b="1" i="0" dirty="0">
                <a:solidFill>
                  <a:srgbClr val="F2994A"/>
                </a:solidFill>
                <a:latin typeface="IBM Plex Sans SemiBold" panose="020B0503050203000203" pitchFamily="34" charset="0"/>
              </a:rPr>
              <a:t>FORMAT</a:t>
            </a:r>
          </a:p>
        </p:txBody>
      </p:sp>
      <p:sp>
        <p:nvSpPr>
          <p:cNvPr id="62" name="Text62"/>
          <p:cNvSpPr txBox="1"/>
          <p:nvPr/>
        </p:nvSpPr>
        <p:spPr>
          <a:xfrm>
            <a:off x="5946022" y="3590000"/>
            <a:ext cx="2148011" cy="320000"/>
          </a:xfrm>
          <a:prstGeom prst="rect">
            <a:avLst/>
          </a:prstGeom>
          <a:noFill/>
        </p:spPr>
        <p:txBody>
          <a:bodyPr wrap="square" lIns="0" tIns="0" rIns="0" bIns="0" anchor="t">
            <a:normAutofit/>
          </a:bodyPr>
          <a:lstStyle/>
          <a:p>
            <a:pPr algn="l"/>
            <a:r>
              <a:rPr lang="en-IN" sz="1150" b="1" i="0" dirty="0">
                <a:solidFill>
                  <a:srgbClr val="1B1E29"/>
                </a:solidFill>
                <a:latin typeface="IBM Plex Sans SemiBold" panose="020B0503050203000203" pitchFamily="34" charset="0"/>
              </a:rPr>
              <a:t>Structured tabular data</a:t>
            </a:r>
          </a:p>
        </p:txBody>
      </p:sp>
      <p:sp>
        <p:nvSpPr>
          <p:cNvPr id="70" name="Text70"/>
          <p:cNvSpPr txBox="1"/>
          <p:nvPr/>
        </p:nvSpPr>
        <p:spPr>
          <a:xfrm>
            <a:off x="368983" y="4150000"/>
            <a:ext cx="8406034" cy="700000"/>
          </a:xfrm>
          <a:prstGeom prst="rect">
            <a:avLst/>
          </a:prstGeom>
          <a:noFill/>
        </p:spPr>
        <p:txBody>
          <a:bodyPr wrap="square" lIns="0" tIns="0" rIns="0" bIns="0" anchor="t">
            <a:normAutofit/>
          </a:bodyPr>
          <a:lstStyle/>
          <a:p>
            <a:r>
              <a:rPr lang="en-US" sz="1200" dirty="0"/>
              <a:t>The dataset provides a comprehensive overview of employee information, including department, location, salary, loan details, bonus percentage, performance rating, and quarterly sales. It enables multidimensional analysis of workforce performance, financial metrics, and business operations through interactive visualizations.</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48000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Dataset Variables</a:t>
            </a:r>
          </a:p>
        </p:txBody>
      </p:sp>
      <p:sp>
        <p:nvSpPr>
          <p:cNvPr id="9" name="Subtitle"/>
          <p:cNvSpPr txBox="1"/>
          <p:nvPr/>
        </p:nvSpPr>
        <p:spPr>
          <a:xfrm>
            <a:off x="368983" y="1130000"/>
            <a:ext cx="7900000" cy="276999"/>
          </a:xfrm>
          <a:prstGeom prst="rect">
            <a:avLst/>
          </a:prstGeom>
          <a:noFill/>
        </p:spPr>
        <p:txBody>
          <a:bodyPr wrap="square" rtlCol="0">
            <a:spAutoFit/>
          </a:bodyPr>
          <a:lstStyle/>
          <a:p>
            <a:r>
              <a:rPr lang="en-US" sz="1200" i="1" dirty="0">
                <a:solidFill>
                  <a:srgbClr val="5B6577"/>
                </a:solidFill>
                <a:latin typeface="IBM Plex Sans" panose="020B0503050203000203" pitchFamily="34" charset="0"/>
              </a:rPr>
              <a:t>Key fields captured for each employee record</a:t>
            </a:r>
            <a:endParaRPr lang="en-IN" sz="1200" i="1" dirty="0">
              <a:solidFill>
                <a:srgbClr val="5B6577"/>
              </a:solidFill>
              <a:latin typeface="IBM Plex Sans" panose="020B0503050203000203" pitchFamily="34" charset="0"/>
            </a:endParaRPr>
          </a:p>
        </p:txBody>
      </p:sp>
      <p:sp>
        <p:nvSpPr>
          <p:cNvPr id="20" name="Rect20"/>
          <p:cNvSpPr/>
          <p:nvPr/>
        </p:nvSpPr>
        <p:spPr>
          <a:xfrm>
            <a:off x="368983" y="1700000"/>
            <a:ext cx="1996000" cy="780000"/>
          </a:xfrm>
          <a:prstGeom prst="rect">
            <a:avLst/>
          </a:prstGeom>
          <a:solidFill>
            <a:srgbClr val="F4F6FB"/>
          </a:solidFill>
          <a:ln>
            <a:noFill/>
          </a:ln>
        </p:spPr>
        <p:txBody>
          <a:bodyPr/>
          <a:lstStyle/>
          <a:p>
            <a:endParaRPr/>
          </a:p>
        </p:txBody>
      </p:sp>
      <p:sp>
        <p:nvSpPr>
          <p:cNvPr id="60" name="Circle60"/>
          <p:cNvSpPr/>
          <p:nvPr/>
        </p:nvSpPr>
        <p:spPr>
          <a:xfrm>
            <a:off x="508983" y="0"/>
            <a:ext cx="140000" cy="140000"/>
          </a:xfrm>
          <a:prstGeom prst="ellipse">
            <a:avLst/>
          </a:prstGeom>
          <a:solidFill>
            <a:srgbClr val="0532B3"/>
          </a:solidFill>
          <a:ln>
            <a:noFill/>
          </a:ln>
        </p:spPr>
        <p:txBody>
          <a:bodyPr/>
          <a:lstStyle/>
          <a:p>
            <a:endParaRPr/>
          </a:p>
        </p:txBody>
      </p:sp>
      <p:sp>
        <p:nvSpPr>
          <p:cNvPr id="100" name="Text100"/>
          <p:cNvSpPr txBox="1"/>
          <p:nvPr/>
        </p:nvSpPr>
        <p:spPr>
          <a:xfrm>
            <a:off x="698983" y="1700000"/>
            <a:ext cx="1616000" cy="780000"/>
          </a:xfrm>
          <a:prstGeom prst="rect">
            <a:avLst/>
          </a:prstGeom>
          <a:noFill/>
        </p:spPr>
        <p:txBody>
          <a:bodyPr wrap="square" lIns="0" tIns="0" rIns="0" bIns="0" anchor="ctr">
            <a:normAutofit/>
          </a:bodyPr>
          <a:lstStyle/>
          <a:p>
            <a:r>
              <a:rPr lang="en-US" sz="1200" dirty="0"/>
              <a:t>Employee Name</a:t>
            </a:r>
            <a:endParaRPr lang="en-IN" sz="1150" b="1" i="0" dirty="0">
              <a:solidFill>
                <a:srgbClr val="1B1E29"/>
              </a:solidFill>
              <a:latin typeface="IBM Plex Sans SemiBold" panose="020B0503050203000203" pitchFamily="34" charset="0"/>
            </a:endParaRPr>
          </a:p>
        </p:txBody>
      </p:sp>
      <p:sp>
        <p:nvSpPr>
          <p:cNvPr id="21" name="Rect21"/>
          <p:cNvSpPr/>
          <p:nvPr/>
        </p:nvSpPr>
        <p:spPr>
          <a:xfrm>
            <a:off x="2442983" y="1700000"/>
            <a:ext cx="1996000" cy="780000"/>
          </a:xfrm>
          <a:prstGeom prst="rect">
            <a:avLst/>
          </a:prstGeom>
          <a:solidFill>
            <a:srgbClr val="F4F6FB"/>
          </a:solidFill>
          <a:ln>
            <a:noFill/>
          </a:ln>
        </p:spPr>
        <p:txBody>
          <a:bodyPr/>
          <a:lstStyle/>
          <a:p>
            <a:endParaRPr/>
          </a:p>
        </p:txBody>
      </p:sp>
      <p:sp>
        <p:nvSpPr>
          <p:cNvPr id="61" name="Circle61"/>
          <p:cNvSpPr/>
          <p:nvPr/>
        </p:nvSpPr>
        <p:spPr>
          <a:xfrm>
            <a:off x="2582983" y="0"/>
            <a:ext cx="140000" cy="140000"/>
          </a:xfrm>
          <a:prstGeom prst="ellipse">
            <a:avLst/>
          </a:prstGeom>
          <a:solidFill>
            <a:srgbClr val="0532B3"/>
          </a:solidFill>
          <a:ln>
            <a:noFill/>
          </a:ln>
        </p:spPr>
        <p:txBody>
          <a:bodyPr/>
          <a:lstStyle/>
          <a:p>
            <a:endParaRPr/>
          </a:p>
        </p:txBody>
      </p:sp>
      <p:sp>
        <p:nvSpPr>
          <p:cNvPr id="101" name="Text101"/>
          <p:cNvSpPr txBox="1"/>
          <p:nvPr/>
        </p:nvSpPr>
        <p:spPr>
          <a:xfrm>
            <a:off x="2772983" y="1700000"/>
            <a:ext cx="1616000" cy="780000"/>
          </a:xfrm>
          <a:prstGeom prst="rect">
            <a:avLst/>
          </a:prstGeom>
          <a:noFill/>
        </p:spPr>
        <p:txBody>
          <a:bodyPr wrap="square" lIns="0" tIns="0" rIns="0" bIns="0" anchor="ctr">
            <a:normAutofit/>
          </a:bodyPr>
          <a:lstStyle/>
          <a:p>
            <a:r>
              <a:rPr lang="en-US" sz="1200" dirty="0"/>
              <a:t>Department</a:t>
            </a:r>
            <a:endParaRPr lang="en-IN" sz="1150" b="1" i="0" dirty="0">
              <a:solidFill>
                <a:srgbClr val="1B1E29"/>
              </a:solidFill>
              <a:latin typeface="IBM Plex Sans SemiBold" panose="020B0503050203000203" pitchFamily="34" charset="0"/>
            </a:endParaRPr>
          </a:p>
        </p:txBody>
      </p:sp>
      <p:sp>
        <p:nvSpPr>
          <p:cNvPr id="22" name="Rect22"/>
          <p:cNvSpPr/>
          <p:nvPr/>
        </p:nvSpPr>
        <p:spPr>
          <a:xfrm>
            <a:off x="4516983" y="1700000"/>
            <a:ext cx="1996000" cy="780000"/>
          </a:xfrm>
          <a:prstGeom prst="rect">
            <a:avLst/>
          </a:prstGeom>
          <a:solidFill>
            <a:srgbClr val="F4F6FB"/>
          </a:solidFill>
          <a:ln>
            <a:noFill/>
          </a:ln>
        </p:spPr>
        <p:txBody>
          <a:bodyPr/>
          <a:lstStyle/>
          <a:p>
            <a:endParaRPr/>
          </a:p>
        </p:txBody>
      </p:sp>
      <p:sp>
        <p:nvSpPr>
          <p:cNvPr id="62" name="Circle62"/>
          <p:cNvSpPr/>
          <p:nvPr/>
        </p:nvSpPr>
        <p:spPr>
          <a:xfrm>
            <a:off x="4656983" y="0"/>
            <a:ext cx="140000" cy="140000"/>
          </a:xfrm>
          <a:prstGeom prst="ellipse">
            <a:avLst/>
          </a:prstGeom>
          <a:solidFill>
            <a:srgbClr val="0532B3"/>
          </a:solidFill>
          <a:ln>
            <a:noFill/>
          </a:ln>
        </p:spPr>
        <p:txBody>
          <a:bodyPr/>
          <a:lstStyle/>
          <a:p>
            <a:endParaRPr/>
          </a:p>
        </p:txBody>
      </p:sp>
      <p:sp>
        <p:nvSpPr>
          <p:cNvPr id="102" name="Text102"/>
          <p:cNvSpPr txBox="1"/>
          <p:nvPr/>
        </p:nvSpPr>
        <p:spPr>
          <a:xfrm>
            <a:off x="4846983" y="1700000"/>
            <a:ext cx="1616000" cy="780000"/>
          </a:xfrm>
          <a:prstGeom prst="rect">
            <a:avLst/>
          </a:prstGeom>
          <a:noFill/>
        </p:spPr>
        <p:txBody>
          <a:bodyPr wrap="square" lIns="0" tIns="0" rIns="0" bIns="0" anchor="ctr">
            <a:normAutofit/>
          </a:bodyPr>
          <a:lstStyle/>
          <a:p>
            <a:r>
              <a:rPr lang="en-US" sz="1200" dirty="0"/>
              <a:t>Location</a:t>
            </a:r>
            <a:endParaRPr lang="en-IN" sz="1150" b="1" i="0" dirty="0">
              <a:solidFill>
                <a:srgbClr val="1B1E29"/>
              </a:solidFill>
              <a:latin typeface="IBM Plex Sans SemiBold" panose="020B0503050203000203" pitchFamily="34" charset="0"/>
            </a:endParaRPr>
          </a:p>
        </p:txBody>
      </p:sp>
      <p:sp>
        <p:nvSpPr>
          <p:cNvPr id="23" name="Rect23"/>
          <p:cNvSpPr/>
          <p:nvPr/>
        </p:nvSpPr>
        <p:spPr>
          <a:xfrm>
            <a:off x="6590983" y="1700000"/>
            <a:ext cx="1996000" cy="780000"/>
          </a:xfrm>
          <a:prstGeom prst="rect">
            <a:avLst/>
          </a:prstGeom>
          <a:solidFill>
            <a:srgbClr val="F4F6FB"/>
          </a:solidFill>
          <a:ln>
            <a:noFill/>
          </a:ln>
        </p:spPr>
        <p:txBody>
          <a:bodyPr/>
          <a:lstStyle/>
          <a:p>
            <a:endParaRPr/>
          </a:p>
        </p:txBody>
      </p:sp>
      <p:sp>
        <p:nvSpPr>
          <p:cNvPr id="63" name="Circle63"/>
          <p:cNvSpPr/>
          <p:nvPr/>
        </p:nvSpPr>
        <p:spPr>
          <a:xfrm>
            <a:off x="6730983" y="0"/>
            <a:ext cx="140000" cy="140000"/>
          </a:xfrm>
          <a:prstGeom prst="ellipse">
            <a:avLst/>
          </a:prstGeom>
          <a:solidFill>
            <a:srgbClr val="0532B3"/>
          </a:solidFill>
          <a:ln>
            <a:noFill/>
          </a:ln>
        </p:spPr>
        <p:txBody>
          <a:bodyPr/>
          <a:lstStyle/>
          <a:p>
            <a:endParaRPr/>
          </a:p>
        </p:txBody>
      </p:sp>
      <p:sp>
        <p:nvSpPr>
          <p:cNvPr id="103" name="Text103"/>
          <p:cNvSpPr txBox="1"/>
          <p:nvPr/>
        </p:nvSpPr>
        <p:spPr>
          <a:xfrm>
            <a:off x="6920983" y="1700000"/>
            <a:ext cx="1616000" cy="780000"/>
          </a:xfrm>
          <a:prstGeom prst="rect">
            <a:avLst/>
          </a:prstGeom>
          <a:noFill/>
        </p:spPr>
        <p:txBody>
          <a:bodyPr wrap="square" lIns="0" tIns="0" rIns="0" bIns="0" anchor="ctr">
            <a:normAutofit/>
          </a:bodyPr>
          <a:lstStyle/>
          <a:p>
            <a:r>
              <a:rPr lang="en-US" sz="1200" dirty="0"/>
              <a:t>Hire Date</a:t>
            </a:r>
            <a:endParaRPr lang="en-IN" sz="1150" b="1" i="0" dirty="0">
              <a:solidFill>
                <a:srgbClr val="1B1E29"/>
              </a:solidFill>
              <a:latin typeface="IBM Plex Sans SemiBold" panose="020B0503050203000203" pitchFamily="34" charset="0"/>
            </a:endParaRPr>
          </a:p>
        </p:txBody>
      </p:sp>
      <p:sp>
        <p:nvSpPr>
          <p:cNvPr id="24" name="Rect24"/>
          <p:cNvSpPr/>
          <p:nvPr/>
        </p:nvSpPr>
        <p:spPr>
          <a:xfrm>
            <a:off x="368983" y="2610000"/>
            <a:ext cx="1996000" cy="780000"/>
          </a:xfrm>
          <a:prstGeom prst="rect">
            <a:avLst/>
          </a:prstGeom>
          <a:solidFill>
            <a:srgbClr val="F4F6FB"/>
          </a:solidFill>
          <a:ln>
            <a:noFill/>
          </a:ln>
        </p:spPr>
        <p:txBody>
          <a:bodyPr/>
          <a:lstStyle/>
          <a:p>
            <a:endParaRPr/>
          </a:p>
        </p:txBody>
      </p:sp>
      <p:sp>
        <p:nvSpPr>
          <p:cNvPr id="64" name="Circle64"/>
          <p:cNvSpPr/>
          <p:nvPr/>
        </p:nvSpPr>
        <p:spPr>
          <a:xfrm>
            <a:off x="508983" y="0"/>
            <a:ext cx="140000" cy="140000"/>
          </a:xfrm>
          <a:prstGeom prst="ellipse">
            <a:avLst/>
          </a:prstGeom>
          <a:solidFill>
            <a:srgbClr val="0532B3"/>
          </a:solidFill>
          <a:ln>
            <a:noFill/>
          </a:ln>
        </p:spPr>
        <p:txBody>
          <a:bodyPr/>
          <a:lstStyle/>
          <a:p>
            <a:endParaRPr/>
          </a:p>
        </p:txBody>
      </p:sp>
      <p:sp>
        <p:nvSpPr>
          <p:cNvPr id="104" name="Text104"/>
          <p:cNvSpPr txBox="1"/>
          <p:nvPr/>
        </p:nvSpPr>
        <p:spPr>
          <a:xfrm>
            <a:off x="698983" y="2610000"/>
            <a:ext cx="1616000" cy="780000"/>
          </a:xfrm>
          <a:prstGeom prst="rect">
            <a:avLst/>
          </a:prstGeom>
          <a:noFill/>
        </p:spPr>
        <p:txBody>
          <a:bodyPr wrap="square" lIns="0" tIns="0" rIns="0" bIns="0" anchor="ctr">
            <a:normAutofit/>
          </a:bodyPr>
          <a:lstStyle/>
          <a:p>
            <a:r>
              <a:rPr lang="en-US" sz="1200" dirty="0"/>
              <a:t>Salary (INR)</a:t>
            </a:r>
            <a:endParaRPr lang="en-IN" sz="1150" b="1" dirty="0">
              <a:solidFill>
                <a:srgbClr val="1B1E29"/>
              </a:solidFill>
              <a:latin typeface="IBM Plex Sans SemiBold" panose="020B0503050203000203" pitchFamily="34" charset="0"/>
            </a:endParaRPr>
          </a:p>
        </p:txBody>
      </p:sp>
      <p:sp>
        <p:nvSpPr>
          <p:cNvPr id="25" name="Rect25"/>
          <p:cNvSpPr/>
          <p:nvPr/>
        </p:nvSpPr>
        <p:spPr>
          <a:xfrm>
            <a:off x="2442983" y="2610000"/>
            <a:ext cx="1996000" cy="780000"/>
          </a:xfrm>
          <a:prstGeom prst="rect">
            <a:avLst/>
          </a:prstGeom>
          <a:solidFill>
            <a:srgbClr val="F4F6FB"/>
          </a:solidFill>
          <a:ln>
            <a:noFill/>
          </a:ln>
        </p:spPr>
        <p:txBody>
          <a:bodyPr/>
          <a:lstStyle/>
          <a:p>
            <a:endParaRPr/>
          </a:p>
        </p:txBody>
      </p:sp>
      <p:sp>
        <p:nvSpPr>
          <p:cNvPr id="65" name="Circle65"/>
          <p:cNvSpPr/>
          <p:nvPr/>
        </p:nvSpPr>
        <p:spPr>
          <a:xfrm>
            <a:off x="2582983" y="0"/>
            <a:ext cx="140000" cy="140000"/>
          </a:xfrm>
          <a:prstGeom prst="ellipse">
            <a:avLst/>
          </a:prstGeom>
          <a:solidFill>
            <a:srgbClr val="0532B3"/>
          </a:solidFill>
          <a:ln>
            <a:noFill/>
          </a:ln>
        </p:spPr>
        <p:txBody>
          <a:bodyPr/>
          <a:lstStyle/>
          <a:p>
            <a:endParaRPr/>
          </a:p>
        </p:txBody>
      </p:sp>
      <p:sp>
        <p:nvSpPr>
          <p:cNvPr id="105" name="Text105"/>
          <p:cNvSpPr txBox="1"/>
          <p:nvPr/>
        </p:nvSpPr>
        <p:spPr>
          <a:xfrm>
            <a:off x="2772983" y="2610000"/>
            <a:ext cx="1616000" cy="780000"/>
          </a:xfrm>
          <a:prstGeom prst="rect">
            <a:avLst/>
          </a:prstGeom>
          <a:noFill/>
        </p:spPr>
        <p:txBody>
          <a:bodyPr wrap="square" lIns="0" tIns="0" rIns="0" bIns="0" anchor="ctr">
            <a:normAutofit/>
          </a:bodyPr>
          <a:lstStyle/>
          <a:p>
            <a:r>
              <a:rPr lang="en-US" sz="1200" dirty="0"/>
              <a:t>Loan Amount (INR)</a:t>
            </a:r>
            <a:endParaRPr lang="en-IN" sz="1150" b="1" i="0" dirty="0">
              <a:solidFill>
                <a:srgbClr val="1B1E29"/>
              </a:solidFill>
              <a:latin typeface="IBM Plex Sans SemiBold" panose="020B0503050203000203" pitchFamily="34" charset="0"/>
            </a:endParaRPr>
          </a:p>
        </p:txBody>
      </p:sp>
      <p:sp>
        <p:nvSpPr>
          <p:cNvPr id="26" name="Rect26"/>
          <p:cNvSpPr/>
          <p:nvPr/>
        </p:nvSpPr>
        <p:spPr>
          <a:xfrm>
            <a:off x="4516983" y="2610000"/>
            <a:ext cx="1996000" cy="780000"/>
          </a:xfrm>
          <a:prstGeom prst="rect">
            <a:avLst/>
          </a:prstGeom>
          <a:solidFill>
            <a:srgbClr val="F4F6FB"/>
          </a:solidFill>
          <a:ln>
            <a:noFill/>
          </a:ln>
        </p:spPr>
        <p:txBody>
          <a:bodyPr/>
          <a:lstStyle/>
          <a:p>
            <a:endParaRPr/>
          </a:p>
        </p:txBody>
      </p:sp>
      <p:sp>
        <p:nvSpPr>
          <p:cNvPr id="66" name="Circle66"/>
          <p:cNvSpPr/>
          <p:nvPr/>
        </p:nvSpPr>
        <p:spPr>
          <a:xfrm>
            <a:off x="4656983" y="0"/>
            <a:ext cx="140000" cy="140000"/>
          </a:xfrm>
          <a:prstGeom prst="ellipse">
            <a:avLst/>
          </a:prstGeom>
          <a:solidFill>
            <a:srgbClr val="0532B3"/>
          </a:solidFill>
          <a:ln>
            <a:noFill/>
          </a:ln>
        </p:spPr>
        <p:txBody>
          <a:bodyPr/>
          <a:lstStyle/>
          <a:p>
            <a:endParaRPr/>
          </a:p>
        </p:txBody>
      </p:sp>
      <p:sp>
        <p:nvSpPr>
          <p:cNvPr id="106" name="Text106"/>
          <p:cNvSpPr txBox="1"/>
          <p:nvPr/>
        </p:nvSpPr>
        <p:spPr>
          <a:xfrm>
            <a:off x="4846983" y="2610000"/>
            <a:ext cx="1616000" cy="780000"/>
          </a:xfrm>
          <a:prstGeom prst="rect">
            <a:avLst/>
          </a:prstGeom>
          <a:noFill/>
        </p:spPr>
        <p:txBody>
          <a:bodyPr wrap="square" lIns="0" tIns="0" rIns="0" bIns="0" anchor="ctr">
            <a:normAutofit/>
          </a:bodyPr>
          <a:lstStyle/>
          <a:p>
            <a:r>
              <a:rPr lang="en-US" sz="1200" dirty="0"/>
              <a:t>Loan Term (Years)</a:t>
            </a:r>
            <a:endParaRPr lang="en-IN" sz="1150" b="1" i="0" dirty="0">
              <a:solidFill>
                <a:srgbClr val="1B1E29"/>
              </a:solidFill>
              <a:latin typeface="IBM Plex Sans SemiBold" panose="020B0503050203000203" pitchFamily="34" charset="0"/>
            </a:endParaRPr>
          </a:p>
        </p:txBody>
      </p:sp>
      <p:sp>
        <p:nvSpPr>
          <p:cNvPr id="27" name="Rect27"/>
          <p:cNvSpPr/>
          <p:nvPr/>
        </p:nvSpPr>
        <p:spPr>
          <a:xfrm>
            <a:off x="6590983" y="2610000"/>
            <a:ext cx="1996000" cy="780000"/>
          </a:xfrm>
          <a:prstGeom prst="rect">
            <a:avLst/>
          </a:prstGeom>
          <a:solidFill>
            <a:srgbClr val="F4F6FB"/>
          </a:solidFill>
          <a:ln>
            <a:noFill/>
          </a:ln>
        </p:spPr>
        <p:txBody>
          <a:bodyPr/>
          <a:lstStyle/>
          <a:p>
            <a:endParaRPr/>
          </a:p>
        </p:txBody>
      </p:sp>
      <p:sp>
        <p:nvSpPr>
          <p:cNvPr id="67" name="Circle67"/>
          <p:cNvSpPr/>
          <p:nvPr/>
        </p:nvSpPr>
        <p:spPr>
          <a:xfrm>
            <a:off x="6730983" y="0"/>
            <a:ext cx="140000" cy="140000"/>
          </a:xfrm>
          <a:prstGeom prst="ellipse">
            <a:avLst/>
          </a:prstGeom>
          <a:solidFill>
            <a:srgbClr val="0532B3"/>
          </a:solidFill>
          <a:ln>
            <a:noFill/>
          </a:ln>
        </p:spPr>
        <p:txBody>
          <a:bodyPr/>
          <a:lstStyle/>
          <a:p>
            <a:endParaRPr/>
          </a:p>
        </p:txBody>
      </p:sp>
      <p:sp>
        <p:nvSpPr>
          <p:cNvPr id="107" name="Text107"/>
          <p:cNvSpPr txBox="1"/>
          <p:nvPr/>
        </p:nvSpPr>
        <p:spPr>
          <a:xfrm>
            <a:off x="6920983" y="2610000"/>
            <a:ext cx="1616000" cy="780000"/>
          </a:xfrm>
          <a:prstGeom prst="rect">
            <a:avLst/>
          </a:prstGeom>
          <a:noFill/>
        </p:spPr>
        <p:txBody>
          <a:bodyPr wrap="square" lIns="0" tIns="0" rIns="0" bIns="0" anchor="ctr">
            <a:normAutofit/>
          </a:bodyPr>
          <a:lstStyle/>
          <a:p>
            <a:r>
              <a:rPr lang="en-US" sz="1200" dirty="0"/>
              <a:t>Loan Age (Years)</a:t>
            </a:r>
            <a:endParaRPr lang="en-IN" sz="1150" b="1" i="0" dirty="0">
              <a:solidFill>
                <a:srgbClr val="1B1E29"/>
              </a:solidFill>
              <a:latin typeface="IBM Plex Sans SemiBold" panose="020B0503050203000203" pitchFamily="34" charset="0"/>
            </a:endParaRPr>
          </a:p>
        </p:txBody>
      </p:sp>
      <p:sp>
        <p:nvSpPr>
          <p:cNvPr id="28" name="Rect28"/>
          <p:cNvSpPr/>
          <p:nvPr/>
        </p:nvSpPr>
        <p:spPr>
          <a:xfrm>
            <a:off x="368983" y="3520000"/>
            <a:ext cx="1996000" cy="780000"/>
          </a:xfrm>
          <a:prstGeom prst="rect">
            <a:avLst/>
          </a:prstGeom>
          <a:solidFill>
            <a:srgbClr val="F4F6FB"/>
          </a:solidFill>
          <a:ln>
            <a:noFill/>
          </a:ln>
        </p:spPr>
        <p:txBody>
          <a:bodyPr/>
          <a:lstStyle/>
          <a:p>
            <a:endParaRPr/>
          </a:p>
        </p:txBody>
      </p:sp>
      <p:sp>
        <p:nvSpPr>
          <p:cNvPr id="68" name="Circle68"/>
          <p:cNvSpPr/>
          <p:nvPr/>
        </p:nvSpPr>
        <p:spPr>
          <a:xfrm>
            <a:off x="508983" y="0"/>
            <a:ext cx="140000" cy="140000"/>
          </a:xfrm>
          <a:prstGeom prst="ellipse">
            <a:avLst/>
          </a:prstGeom>
          <a:solidFill>
            <a:srgbClr val="0532B3"/>
          </a:solidFill>
          <a:ln>
            <a:noFill/>
          </a:ln>
        </p:spPr>
        <p:txBody>
          <a:bodyPr/>
          <a:lstStyle/>
          <a:p>
            <a:endParaRPr/>
          </a:p>
        </p:txBody>
      </p:sp>
      <p:sp>
        <p:nvSpPr>
          <p:cNvPr id="108" name="Text108"/>
          <p:cNvSpPr txBox="1"/>
          <p:nvPr/>
        </p:nvSpPr>
        <p:spPr>
          <a:xfrm>
            <a:off x="698983" y="3520000"/>
            <a:ext cx="1616000" cy="780000"/>
          </a:xfrm>
          <a:prstGeom prst="rect">
            <a:avLst/>
          </a:prstGeom>
          <a:noFill/>
        </p:spPr>
        <p:txBody>
          <a:bodyPr wrap="square" lIns="0" tIns="0" rIns="0" bIns="0" anchor="ctr">
            <a:normAutofit/>
          </a:bodyPr>
          <a:lstStyle/>
          <a:p>
            <a:r>
              <a:rPr lang="en-US" sz="1200" dirty="0"/>
              <a:t>Interest Rate (%)</a:t>
            </a:r>
            <a:endParaRPr lang="en-IN" sz="1150" b="1" i="0" dirty="0">
              <a:solidFill>
                <a:srgbClr val="1B1E29"/>
              </a:solidFill>
              <a:latin typeface="IBM Plex Sans SemiBold" panose="020B0503050203000203" pitchFamily="34" charset="0"/>
            </a:endParaRPr>
          </a:p>
        </p:txBody>
      </p:sp>
      <p:sp>
        <p:nvSpPr>
          <p:cNvPr id="29" name="Rect29"/>
          <p:cNvSpPr/>
          <p:nvPr/>
        </p:nvSpPr>
        <p:spPr>
          <a:xfrm>
            <a:off x="2442983" y="3520000"/>
            <a:ext cx="1996000" cy="780000"/>
          </a:xfrm>
          <a:prstGeom prst="rect">
            <a:avLst/>
          </a:prstGeom>
          <a:solidFill>
            <a:srgbClr val="F4F6FB"/>
          </a:solidFill>
          <a:ln>
            <a:noFill/>
          </a:ln>
        </p:spPr>
        <p:txBody>
          <a:bodyPr/>
          <a:lstStyle/>
          <a:p>
            <a:endParaRPr/>
          </a:p>
        </p:txBody>
      </p:sp>
      <p:sp>
        <p:nvSpPr>
          <p:cNvPr id="69" name="Circle69"/>
          <p:cNvSpPr/>
          <p:nvPr/>
        </p:nvSpPr>
        <p:spPr>
          <a:xfrm>
            <a:off x="2582983" y="0"/>
            <a:ext cx="140000" cy="140000"/>
          </a:xfrm>
          <a:prstGeom prst="ellipse">
            <a:avLst/>
          </a:prstGeom>
          <a:solidFill>
            <a:srgbClr val="0532B3"/>
          </a:solidFill>
          <a:ln>
            <a:noFill/>
          </a:ln>
        </p:spPr>
        <p:txBody>
          <a:bodyPr/>
          <a:lstStyle/>
          <a:p>
            <a:endParaRPr/>
          </a:p>
        </p:txBody>
      </p:sp>
      <p:sp>
        <p:nvSpPr>
          <p:cNvPr id="109" name="Text109"/>
          <p:cNvSpPr txBox="1"/>
          <p:nvPr/>
        </p:nvSpPr>
        <p:spPr>
          <a:xfrm>
            <a:off x="2772983" y="3520000"/>
            <a:ext cx="1616000" cy="780000"/>
          </a:xfrm>
          <a:prstGeom prst="rect">
            <a:avLst/>
          </a:prstGeom>
          <a:noFill/>
        </p:spPr>
        <p:txBody>
          <a:bodyPr wrap="square" lIns="0" tIns="0" rIns="0" bIns="0" anchor="ctr">
            <a:normAutofit/>
          </a:bodyPr>
          <a:lstStyle/>
          <a:p>
            <a:r>
              <a:rPr lang="en-US" sz="1200" dirty="0"/>
              <a:t>Bonus (%)</a:t>
            </a:r>
            <a:endParaRPr lang="en-IN" sz="1150" b="1" i="0" dirty="0">
              <a:solidFill>
                <a:srgbClr val="1B1E29"/>
              </a:solidFill>
              <a:latin typeface="IBM Plex Sans SemiBold" panose="020B0503050203000203" pitchFamily="34" charset="0"/>
            </a:endParaRPr>
          </a:p>
        </p:txBody>
      </p:sp>
      <p:sp>
        <p:nvSpPr>
          <p:cNvPr id="30" name="Rect30"/>
          <p:cNvSpPr/>
          <p:nvPr/>
        </p:nvSpPr>
        <p:spPr>
          <a:xfrm>
            <a:off x="4516983" y="3520000"/>
            <a:ext cx="1996000" cy="780000"/>
          </a:xfrm>
          <a:prstGeom prst="rect">
            <a:avLst/>
          </a:prstGeom>
          <a:solidFill>
            <a:srgbClr val="F4F6FB"/>
          </a:solidFill>
          <a:ln>
            <a:noFill/>
          </a:ln>
        </p:spPr>
        <p:txBody>
          <a:bodyPr/>
          <a:lstStyle/>
          <a:p>
            <a:endParaRPr/>
          </a:p>
        </p:txBody>
      </p:sp>
      <p:sp>
        <p:nvSpPr>
          <p:cNvPr id="70" name="Circle70"/>
          <p:cNvSpPr/>
          <p:nvPr/>
        </p:nvSpPr>
        <p:spPr>
          <a:xfrm>
            <a:off x="4656983" y="0"/>
            <a:ext cx="140000" cy="140000"/>
          </a:xfrm>
          <a:prstGeom prst="ellipse">
            <a:avLst/>
          </a:prstGeom>
          <a:solidFill>
            <a:srgbClr val="0532B3"/>
          </a:solidFill>
          <a:ln>
            <a:noFill/>
          </a:ln>
        </p:spPr>
        <p:txBody>
          <a:bodyPr/>
          <a:lstStyle/>
          <a:p>
            <a:endParaRPr/>
          </a:p>
        </p:txBody>
      </p:sp>
      <p:sp>
        <p:nvSpPr>
          <p:cNvPr id="110" name="Text110"/>
          <p:cNvSpPr txBox="1"/>
          <p:nvPr/>
        </p:nvSpPr>
        <p:spPr>
          <a:xfrm>
            <a:off x="4846983" y="3520000"/>
            <a:ext cx="1616000" cy="780000"/>
          </a:xfrm>
          <a:prstGeom prst="rect">
            <a:avLst/>
          </a:prstGeom>
          <a:noFill/>
        </p:spPr>
        <p:txBody>
          <a:bodyPr wrap="square" lIns="0" tIns="0" rIns="0" bIns="0" anchor="ctr">
            <a:normAutofit/>
          </a:bodyPr>
          <a:lstStyle/>
          <a:p>
            <a:r>
              <a:rPr lang="en-US" sz="1200" dirty="0"/>
              <a:t>Performance Rating</a:t>
            </a:r>
            <a:endParaRPr lang="en-IN" sz="1150" b="1" i="0" dirty="0">
              <a:solidFill>
                <a:srgbClr val="1B1E29"/>
              </a:solidFill>
              <a:latin typeface="IBM Plex Sans SemiBold" panose="020B0503050203000203" pitchFamily="34" charset="0"/>
            </a:endParaRPr>
          </a:p>
        </p:txBody>
      </p:sp>
      <p:sp>
        <p:nvSpPr>
          <p:cNvPr id="31" name="Rect31"/>
          <p:cNvSpPr/>
          <p:nvPr/>
        </p:nvSpPr>
        <p:spPr>
          <a:xfrm>
            <a:off x="6590983" y="3520000"/>
            <a:ext cx="1996000" cy="780000"/>
          </a:xfrm>
          <a:prstGeom prst="rect">
            <a:avLst/>
          </a:prstGeom>
          <a:solidFill>
            <a:srgbClr val="F4F6FB"/>
          </a:solidFill>
          <a:ln>
            <a:noFill/>
          </a:ln>
        </p:spPr>
        <p:txBody>
          <a:bodyPr/>
          <a:lstStyle/>
          <a:p>
            <a:endParaRPr/>
          </a:p>
        </p:txBody>
      </p:sp>
      <p:sp>
        <p:nvSpPr>
          <p:cNvPr id="71" name="Circle71"/>
          <p:cNvSpPr/>
          <p:nvPr/>
        </p:nvSpPr>
        <p:spPr>
          <a:xfrm>
            <a:off x="6730983" y="0"/>
            <a:ext cx="140000" cy="140000"/>
          </a:xfrm>
          <a:prstGeom prst="ellipse">
            <a:avLst/>
          </a:prstGeom>
          <a:solidFill>
            <a:srgbClr val="0532B3"/>
          </a:solidFill>
          <a:ln>
            <a:noFill/>
          </a:ln>
        </p:spPr>
        <p:txBody>
          <a:bodyPr/>
          <a:lstStyle/>
          <a:p>
            <a:endParaRPr/>
          </a:p>
        </p:txBody>
      </p:sp>
      <p:sp>
        <p:nvSpPr>
          <p:cNvPr id="111" name="Text111"/>
          <p:cNvSpPr txBox="1"/>
          <p:nvPr/>
        </p:nvSpPr>
        <p:spPr>
          <a:xfrm>
            <a:off x="6920983" y="3520000"/>
            <a:ext cx="1616000" cy="780000"/>
          </a:xfrm>
          <a:prstGeom prst="rect">
            <a:avLst/>
          </a:prstGeom>
          <a:noFill/>
        </p:spPr>
        <p:txBody>
          <a:bodyPr wrap="square" lIns="0" tIns="0" rIns="0" bIns="0" anchor="ctr">
            <a:normAutofit/>
          </a:bodyPr>
          <a:lstStyle/>
          <a:p>
            <a:r>
              <a:rPr lang="en-US" sz="1200" dirty="0"/>
              <a:t>Quarterly Sales (Q1, Q2, Q3, Q4) </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8" y="0"/>
            <a:ext cx="9142223" cy="5143500"/>
          </a:xfrm>
          <a:prstGeom prst="rect">
            <a:avLst/>
          </a:prstGeom>
        </p:spPr>
      </p:pic>
      <p:sp>
        <p:nvSpPr>
          <p:cNvPr id="8" name="Title"/>
          <p:cNvSpPr txBox="1"/>
          <p:nvPr/>
        </p:nvSpPr>
        <p:spPr>
          <a:xfrm>
            <a:off x="368983" y="640000"/>
            <a:ext cx="8000000" cy="48000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Dashboard Feature: KPI Cards</a:t>
            </a:r>
          </a:p>
        </p:txBody>
      </p:sp>
      <p:sp>
        <p:nvSpPr>
          <p:cNvPr id="9" name="Subtitle"/>
          <p:cNvSpPr txBox="1"/>
          <p:nvPr/>
        </p:nvSpPr>
        <p:spPr>
          <a:xfrm>
            <a:off x="368983" y="1130000"/>
            <a:ext cx="7900000" cy="260000"/>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At-a-glance summary metrics shown at the top of the dashboard</a:t>
            </a:r>
          </a:p>
        </p:txBody>
      </p:sp>
      <p:sp>
        <p:nvSpPr>
          <p:cNvPr id="20" name="Rect20"/>
          <p:cNvSpPr/>
          <p:nvPr/>
        </p:nvSpPr>
        <p:spPr>
          <a:xfrm>
            <a:off x="368983" y="1900000"/>
            <a:ext cx="1590000" cy="1750000"/>
          </a:xfrm>
          <a:prstGeom prst="rect">
            <a:avLst/>
          </a:prstGeom>
          <a:solidFill>
            <a:srgbClr val="F4F6FB"/>
          </a:solidFill>
          <a:ln>
            <a:noFill/>
          </a:ln>
        </p:spPr>
        <p:txBody>
          <a:bodyPr/>
          <a:lstStyle/>
          <a:p>
            <a:endParaRPr/>
          </a:p>
        </p:txBody>
      </p:sp>
      <p:sp>
        <p:nvSpPr>
          <p:cNvPr id="100" name="Text100"/>
          <p:cNvSpPr txBox="1"/>
          <p:nvPr/>
        </p:nvSpPr>
        <p:spPr>
          <a:xfrm>
            <a:off x="591017" y="2137144"/>
            <a:ext cx="1290001" cy="1360968"/>
          </a:xfrm>
          <a:prstGeom prst="rect">
            <a:avLst/>
          </a:prstGeom>
          <a:noFill/>
        </p:spPr>
        <p:txBody>
          <a:bodyPr wrap="square" lIns="0" tIns="0" rIns="0" bIns="0" anchor="t">
            <a:normAutofit/>
          </a:bodyPr>
          <a:lstStyle/>
          <a:p>
            <a:pPr algn="ctr"/>
            <a:r>
              <a:rPr lang="en-US" sz="1200" b="1" dirty="0"/>
              <a:t>Total Employees</a:t>
            </a:r>
            <a:r>
              <a:rPr lang="en-US" sz="1200" dirty="0"/>
              <a:t> – </a:t>
            </a:r>
            <a:r>
              <a:rPr lang="en-US" sz="1200" b="1" dirty="0"/>
              <a:t>809</a:t>
            </a:r>
            <a:endParaRPr lang="en-IN" sz="1150" b="1" i="0" dirty="0">
              <a:solidFill>
                <a:srgbClr val="1B1E29"/>
              </a:solidFill>
              <a:latin typeface="IBM Plex Sans SemiBold" panose="020B0503050203000203" pitchFamily="34" charset="0"/>
            </a:endParaRPr>
          </a:p>
        </p:txBody>
      </p:sp>
      <p:sp>
        <p:nvSpPr>
          <p:cNvPr id="21" name="Rect21"/>
          <p:cNvSpPr/>
          <p:nvPr/>
        </p:nvSpPr>
        <p:spPr>
          <a:xfrm>
            <a:off x="2054983" y="1900000"/>
            <a:ext cx="1590000" cy="1750000"/>
          </a:xfrm>
          <a:prstGeom prst="rect">
            <a:avLst/>
          </a:prstGeom>
          <a:solidFill>
            <a:srgbClr val="F4F6FB"/>
          </a:solidFill>
          <a:ln>
            <a:noFill/>
          </a:ln>
        </p:spPr>
        <p:txBody>
          <a:bodyPr/>
          <a:lstStyle/>
          <a:p>
            <a:endParaRPr/>
          </a:p>
        </p:txBody>
      </p:sp>
      <p:sp>
        <p:nvSpPr>
          <p:cNvPr id="101" name="Text101"/>
          <p:cNvSpPr txBox="1"/>
          <p:nvPr/>
        </p:nvSpPr>
        <p:spPr>
          <a:xfrm>
            <a:off x="2150983" y="2137144"/>
            <a:ext cx="1470034" cy="1669312"/>
          </a:xfrm>
          <a:prstGeom prst="rect">
            <a:avLst/>
          </a:prstGeom>
          <a:noFill/>
        </p:spPr>
        <p:txBody>
          <a:bodyPr wrap="square" lIns="0" tIns="0" rIns="0" bIns="0" anchor="t">
            <a:normAutofit/>
          </a:bodyPr>
          <a:lstStyle/>
          <a:p>
            <a:pPr algn="ctr"/>
            <a:r>
              <a:rPr lang="en-US" sz="1200" b="1" dirty="0"/>
              <a:t>Average Salary (INR)</a:t>
            </a:r>
            <a:r>
              <a:rPr lang="en-US" sz="1200" dirty="0"/>
              <a:t> – </a:t>
            </a:r>
            <a:r>
              <a:rPr lang="en-US" sz="1200" b="1" dirty="0"/>
              <a:t>₹909,296</a:t>
            </a:r>
            <a:endParaRPr lang="en-IN" sz="1150" b="1" i="0" dirty="0">
              <a:solidFill>
                <a:srgbClr val="1B1E29"/>
              </a:solidFill>
              <a:latin typeface="IBM Plex Sans SemiBold" panose="020B0503050203000203" pitchFamily="34" charset="0"/>
            </a:endParaRPr>
          </a:p>
        </p:txBody>
      </p:sp>
      <p:sp>
        <p:nvSpPr>
          <p:cNvPr id="23" name="Rect23"/>
          <p:cNvSpPr/>
          <p:nvPr/>
        </p:nvSpPr>
        <p:spPr>
          <a:xfrm>
            <a:off x="5426983" y="1900000"/>
            <a:ext cx="1590000" cy="1750000"/>
          </a:xfrm>
          <a:prstGeom prst="rect">
            <a:avLst/>
          </a:prstGeom>
          <a:solidFill>
            <a:srgbClr val="F4F6FB"/>
          </a:solidFill>
          <a:ln>
            <a:noFill/>
          </a:ln>
        </p:spPr>
        <p:txBody>
          <a:bodyPr/>
          <a:lstStyle/>
          <a:p>
            <a:endParaRPr/>
          </a:p>
        </p:txBody>
      </p:sp>
      <p:sp>
        <p:nvSpPr>
          <p:cNvPr id="103" name="Text103"/>
          <p:cNvSpPr txBox="1"/>
          <p:nvPr/>
        </p:nvSpPr>
        <p:spPr>
          <a:xfrm>
            <a:off x="5576983" y="2137144"/>
            <a:ext cx="1290000" cy="1242856"/>
          </a:xfrm>
          <a:prstGeom prst="rect">
            <a:avLst/>
          </a:prstGeom>
          <a:noFill/>
        </p:spPr>
        <p:txBody>
          <a:bodyPr wrap="square" lIns="0" tIns="0" rIns="0" bIns="0" anchor="t">
            <a:normAutofit/>
          </a:bodyPr>
          <a:lstStyle/>
          <a:p>
            <a:r>
              <a:rPr lang="en-US" sz="1200" b="1" dirty="0"/>
              <a:t>Average Bonus (%)</a:t>
            </a:r>
            <a:r>
              <a:rPr lang="en-US" sz="1200" dirty="0"/>
              <a:t> – </a:t>
            </a:r>
            <a:r>
              <a:rPr lang="en-US" sz="1200" b="1" dirty="0"/>
              <a:t>12.56%</a:t>
            </a:r>
            <a:endParaRPr lang="en-US" sz="1200" dirty="0"/>
          </a:p>
        </p:txBody>
      </p:sp>
      <p:sp>
        <p:nvSpPr>
          <p:cNvPr id="24" name="Rect24"/>
          <p:cNvSpPr/>
          <p:nvPr/>
        </p:nvSpPr>
        <p:spPr>
          <a:xfrm>
            <a:off x="7112983" y="1900000"/>
            <a:ext cx="1590000" cy="1750000"/>
          </a:xfrm>
          <a:prstGeom prst="rect">
            <a:avLst/>
          </a:prstGeom>
          <a:solidFill>
            <a:srgbClr val="F4F6FB"/>
          </a:solidFill>
          <a:ln>
            <a:noFill/>
          </a:ln>
        </p:spPr>
        <p:txBody>
          <a:bodyPr/>
          <a:lstStyle/>
          <a:p>
            <a:endParaRPr/>
          </a:p>
        </p:txBody>
      </p:sp>
      <p:sp>
        <p:nvSpPr>
          <p:cNvPr id="104" name="Text104"/>
          <p:cNvSpPr txBox="1"/>
          <p:nvPr/>
        </p:nvSpPr>
        <p:spPr>
          <a:xfrm>
            <a:off x="7295094" y="2137144"/>
            <a:ext cx="1290000" cy="700000"/>
          </a:xfrm>
          <a:prstGeom prst="rect">
            <a:avLst/>
          </a:prstGeom>
          <a:noFill/>
        </p:spPr>
        <p:txBody>
          <a:bodyPr wrap="square" lIns="0" tIns="0" rIns="0" bIns="0" anchor="t">
            <a:normAutofit/>
          </a:bodyPr>
          <a:lstStyle/>
          <a:p>
            <a:pPr algn="ctr"/>
            <a:r>
              <a:rPr lang="en-US" sz="1200" b="1" dirty="0"/>
              <a:t>Average Interest Rate (%)</a:t>
            </a:r>
            <a:r>
              <a:rPr lang="en-US" sz="1200" dirty="0"/>
              <a:t> – </a:t>
            </a:r>
            <a:r>
              <a:rPr lang="en-US" sz="1200" b="1" dirty="0"/>
              <a:t>7.479%</a:t>
            </a:r>
            <a:endParaRPr lang="en-IN" sz="1150" b="1" i="0" dirty="0">
              <a:solidFill>
                <a:srgbClr val="1B1E29"/>
              </a:solidFill>
              <a:latin typeface="IBM Plex Sans SemiBold" panose="020B0503050203000203" pitchFamily="34" charset="0"/>
            </a:endParaRPr>
          </a:p>
        </p:txBody>
      </p:sp>
      <p:sp>
        <p:nvSpPr>
          <p:cNvPr id="200" name="Text200"/>
          <p:cNvSpPr txBox="1"/>
          <p:nvPr/>
        </p:nvSpPr>
        <p:spPr>
          <a:xfrm>
            <a:off x="368983" y="3950000"/>
            <a:ext cx="8406034" cy="400000"/>
          </a:xfrm>
          <a:prstGeom prst="rect">
            <a:avLst/>
          </a:prstGeom>
          <a:noFill/>
        </p:spPr>
        <p:txBody>
          <a:bodyPr wrap="square" lIns="0" tIns="0" rIns="0" bIns="0" anchor="t">
            <a:normAutofit/>
          </a:bodyPr>
          <a:lstStyle/>
          <a:p>
            <a:pPr algn="ctr"/>
            <a:r>
              <a:rPr lang="en-IN" sz="1150" b="0" i="1" dirty="0">
                <a:solidFill>
                  <a:srgbClr val="5B6577"/>
                </a:solidFill>
                <a:latin typeface="IBM Plex Sans" panose="020B0503050203000203" pitchFamily="34" charset="0"/>
              </a:rPr>
              <a:t>Each KPI card surfaces a single headline number, refreshed instantly as filters change.</a:t>
            </a:r>
          </a:p>
        </p:txBody>
      </p:sp>
      <p:pic>
        <p:nvPicPr>
          <p:cNvPr id="10" name="Picture 9"/>
          <p:cNvPicPr>
            <a:picLocks noChangeAspect="1"/>
          </p:cNvPicPr>
          <p:nvPr/>
        </p:nvPicPr>
        <p:blipFill>
          <a:blip r:embed="rId3"/>
          <a:stretch>
            <a:fillRect/>
          </a:stretch>
        </p:blipFill>
        <p:spPr>
          <a:xfrm>
            <a:off x="368983" y="165591"/>
            <a:ext cx="1009929" cy="393439"/>
          </a:xfrm>
          <a:prstGeom prst="rect">
            <a:avLst/>
          </a:prstGeom>
        </p:spPr>
      </p:pic>
      <p:pic>
        <p:nvPicPr>
          <p:cNvPr id="4" name="Picture 3"/>
          <p:cNvPicPr>
            <a:picLocks noChangeAspect="1"/>
          </p:cNvPicPr>
          <p:nvPr/>
        </p:nvPicPr>
        <p:blipFill>
          <a:blip r:embed="rId4"/>
          <a:stretch>
            <a:fillRect/>
          </a:stretch>
        </p:blipFill>
        <p:spPr>
          <a:xfrm>
            <a:off x="7978488" y="165591"/>
            <a:ext cx="796529" cy="705085"/>
          </a:xfrm>
          <a:prstGeom prst="rect">
            <a:avLst/>
          </a:prstGeom>
        </p:spPr>
      </p:pic>
      <p:sp>
        <p:nvSpPr>
          <p:cNvPr id="5" name="Rect21">
            <a:extLst>
              <a:ext uri="{FF2B5EF4-FFF2-40B4-BE49-F238E27FC236}">
                <a16:creationId xmlns:a16="http://schemas.microsoft.com/office/drawing/2014/main" id="{8676C47F-5606-6D6C-AF9D-035D8C7DFEFD}"/>
              </a:ext>
            </a:extLst>
          </p:cNvPr>
          <p:cNvSpPr/>
          <p:nvPr/>
        </p:nvSpPr>
        <p:spPr>
          <a:xfrm>
            <a:off x="3717018" y="1894030"/>
            <a:ext cx="1590000" cy="1750000"/>
          </a:xfrm>
          <a:prstGeom prst="rect">
            <a:avLst/>
          </a:prstGeom>
          <a:solidFill>
            <a:srgbClr val="F4F6FB"/>
          </a:solidFill>
          <a:ln>
            <a:noFill/>
          </a:ln>
        </p:spPr>
        <p:txBody>
          <a:bodyPr/>
          <a:lstStyle/>
          <a:p>
            <a:endParaRPr dirty="0"/>
          </a:p>
        </p:txBody>
      </p:sp>
      <p:sp>
        <p:nvSpPr>
          <p:cNvPr id="7" name="Text101">
            <a:extLst>
              <a:ext uri="{FF2B5EF4-FFF2-40B4-BE49-F238E27FC236}">
                <a16:creationId xmlns:a16="http://schemas.microsoft.com/office/drawing/2014/main" id="{9ADF94CD-5A31-D695-2215-BF539D2327C5}"/>
              </a:ext>
            </a:extLst>
          </p:cNvPr>
          <p:cNvSpPr txBox="1"/>
          <p:nvPr/>
        </p:nvSpPr>
        <p:spPr>
          <a:xfrm>
            <a:off x="3794982" y="2137144"/>
            <a:ext cx="1512035" cy="1542856"/>
          </a:xfrm>
          <a:prstGeom prst="rect">
            <a:avLst/>
          </a:prstGeom>
          <a:noFill/>
        </p:spPr>
        <p:txBody>
          <a:bodyPr wrap="square" lIns="0" tIns="0" rIns="0" bIns="0" anchor="t">
            <a:normAutofit/>
          </a:bodyPr>
          <a:lstStyle/>
          <a:p>
            <a:pPr algn="ctr"/>
            <a:r>
              <a:rPr lang="en-US" sz="1200" b="1" dirty="0"/>
              <a:t>Average Performance Rating</a:t>
            </a:r>
            <a:r>
              <a:rPr lang="en-US" sz="1200" dirty="0"/>
              <a:t> – </a:t>
            </a:r>
            <a:r>
              <a:rPr lang="en-US" sz="1200" b="1" dirty="0"/>
              <a:t>3.758</a:t>
            </a:r>
            <a:endParaRPr lang="en-IN" sz="1150" b="1" i="0" dirty="0">
              <a:solidFill>
                <a:srgbClr val="1B1E29"/>
              </a:solidFill>
              <a:latin typeface="IBM Plex Sans SemiBold" panose="020B05030502030002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27105-362E-6AC2-7D7A-96062009831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8444941-0080-9ED6-A96D-CE1E9FF1713F}"/>
              </a:ext>
            </a:extLst>
          </p:cNvPr>
          <p:cNvPicPr>
            <a:picLocks noChangeAspect="1"/>
          </p:cNvPicPr>
          <p:nvPr/>
        </p:nvPicPr>
        <p:blipFill>
          <a:blip r:embed="rId3"/>
          <a:stretch>
            <a:fillRect/>
          </a:stretch>
        </p:blipFill>
        <p:spPr>
          <a:xfrm>
            <a:off x="888" y="0"/>
            <a:ext cx="9142223" cy="5143500"/>
          </a:xfrm>
          <a:prstGeom prst="rect">
            <a:avLst/>
          </a:prstGeom>
        </p:spPr>
      </p:pic>
      <p:sp>
        <p:nvSpPr>
          <p:cNvPr id="8" name="Title">
            <a:extLst>
              <a:ext uri="{FF2B5EF4-FFF2-40B4-BE49-F238E27FC236}">
                <a16:creationId xmlns:a16="http://schemas.microsoft.com/office/drawing/2014/main" id="{FE264487-0CFA-96B5-DE84-269570EB682C}"/>
              </a:ext>
            </a:extLst>
          </p:cNvPr>
          <p:cNvSpPr txBox="1"/>
          <p:nvPr/>
        </p:nvSpPr>
        <p:spPr>
          <a:xfrm>
            <a:off x="368983" y="640000"/>
            <a:ext cx="8000000" cy="52322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Dashboard Features: Map &amp;  Charts</a:t>
            </a:r>
          </a:p>
        </p:txBody>
      </p:sp>
      <p:sp>
        <p:nvSpPr>
          <p:cNvPr id="9" name="Subtitle">
            <a:extLst>
              <a:ext uri="{FF2B5EF4-FFF2-40B4-BE49-F238E27FC236}">
                <a16:creationId xmlns:a16="http://schemas.microsoft.com/office/drawing/2014/main" id="{36815F44-4570-6962-2710-BF0504F9C0C4}"/>
              </a:ext>
            </a:extLst>
          </p:cNvPr>
          <p:cNvSpPr txBox="1"/>
          <p:nvPr/>
        </p:nvSpPr>
        <p:spPr>
          <a:xfrm>
            <a:off x="368983" y="1130000"/>
            <a:ext cx="7900000" cy="260000"/>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Geographic and comparative views of the data</a:t>
            </a:r>
          </a:p>
        </p:txBody>
      </p:sp>
      <p:sp>
        <p:nvSpPr>
          <p:cNvPr id="20" name="Rect20">
            <a:extLst>
              <a:ext uri="{FF2B5EF4-FFF2-40B4-BE49-F238E27FC236}">
                <a16:creationId xmlns:a16="http://schemas.microsoft.com/office/drawing/2014/main" id="{37EAF241-EC52-94A0-68DF-43756D719D13}"/>
              </a:ext>
            </a:extLst>
          </p:cNvPr>
          <p:cNvSpPr/>
          <p:nvPr/>
        </p:nvSpPr>
        <p:spPr>
          <a:xfrm>
            <a:off x="368983" y="1650000"/>
            <a:ext cx="4050000" cy="3150000"/>
          </a:xfrm>
          <a:prstGeom prst="rect">
            <a:avLst/>
          </a:prstGeom>
          <a:solidFill>
            <a:srgbClr val="EDF1FC"/>
          </a:solidFill>
          <a:ln>
            <a:noFill/>
          </a:ln>
        </p:spPr>
        <p:txBody>
          <a:bodyPr/>
          <a:lstStyle/>
          <a:p>
            <a:endParaRPr/>
          </a:p>
        </p:txBody>
      </p:sp>
      <p:sp>
        <p:nvSpPr>
          <p:cNvPr id="21" name="Rect21">
            <a:extLst>
              <a:ext uri="{FF2B5EF4-FFF2-40B4-BE49-F238E27FC236}">
                <a16:creationId xmlns:a16="http://schemas.microsoft.com/office/drawing/2014/main" id="{1435D4F3-6C90-DEC3-BD20-A9C7297A54D0}"/>
              </a:ext>
            </a:extLst>
          </p:cNvPr>
          <p:cNvSpPr/>
          <p:nvPr/>
        </p:nvSpPr>
        <p:spPr>
          <a:xfrm>
            <a:off x="4618983" y="1650000"/>
            <a:ext cx="4050000" cy="3150000"/>
          </a:xfrm>
          <a:prstGeom prst="rect">
            <a:avLst/>
          </a:prstGeom>
          <a:solidFill>
            <a:srgbClr val="FBEFE6"/>
          </a:solidFill>
          <a:ln>
            <a:noFill/>
          </a:ln>
        </p:spPr>
        <p:txBody>
          <a:bodyPr/>
          <a:lstStyle/>
          <a:p>
            <a:endParaRPr/>
          </a:p>
        </p:txBody>
      </p:sp>
      <p:sp>
        <p:nvSpPr>
          <p:cNvPr id="40" name="Text40">
            <a:extLst>
              <a:ext uri="{FF2B5EF4-FFF2-40B4-BE49-F238E27FC236}">
                <a16:creationId xmlns:a16="http://schemas.microsoft.com/office/drawing/2014/main" id="{B4F4CFBF-93DF-C455-F34D-2E09795737D9}"/>
              </a:ext>
            </a:extLst>
          </p:cNvPr>
          <p:cNvSpPr txBox="1"/>
          <p:nvPr/>
        </p:nvSpPr>
        <p:spPr>
          <a:xfrm>
            <a:off x="598983" y="3613500"/>
            <a:ext cx="3590000" cy="400000"/>
          </a:xfrm>
          <a:prstGeom prst="rect">
            <a:avLst/>
          </a:prstGeom>
          <a:noFill/>
        </p:spPr>
        <p:txBody>
          <a:bodyPr wrap="square" lIns="0" tIns="0" rIns="0" bIns="0" anchor="t">
            <a:normAutofit/>
          </a:bodyPr>
          <a:lstStyle/>
          <a:p>
            <a:pPr algn="l"/>
            <a:r>
              <a:rPr lang="en-IN" sz="1600" b="1" i="0" dirty="0">
                <a:solidFill>
                  <a:srgbClr val="0532B3"/>
                </a:solidFill>
                <a:latin typeface="IBM Plex Sans SemiBold" panose="020B0503050203000203" pitchFamily="34" charset="0"/>
              </a:rPr>
              <a:t>Horizontal Bar Chart</a:t>
            </a:r>
          </a:p>
        </p:txBody>
      </p:sp>
      <p:sp>
        <p:nvSpPr>
          <p:cNvPr id="41" name="Text41">
            <a:extLst>
              <a:ext uri="{FF2B5EF4-FFF2-40B4-BE49-F238E27FC236}">
                <a16:creationId xmlns:a16="http://schemas.microsoft.com/office/drawing/2014/main" id="{DE1B0CD0-EE7C-3E47-6855-B756D8B43C0F}"/>
              </a:ext>
            </a:extLst>
          </p:cNvPr>
          <p:cNvSpPr txBox="1"/>
          <p:nvPr/>
        </p:nvSpPr>
        <p:spPr>
          <a:xfrm>
            <a:off x="598983" y="4034209"/>
            <a:ext cx="3590000" cy="680000"/>
          </a:xfrm>
          <a:prstGeom prst="rect">
            <a:avLst/>
          </a:prstGeom>
          <a:noFill/>
        </p:spPr>
        <p:txBody>
          <a:bodyPr wrap="square" lIns="0" tIns="0" rIns="0" bIns="0" anchor="t">
            <a:normAutofit lnSpcReduction="10000"/>
          </a:bodyPr>
          <a:lstStyle/>
          <a:p>
            <a:r>
              <a:rPr lang="en-US" sz="1200" b="1" dirty="0"/>
              <a:t>Salary &amp; Loan Amount by Department</a:t>
            </a:r>
            <a:br>
              <a:rPr lang="en-US" sz="1200" dirty="0"/>
            </a:br>
            <a:r>
              <a:rPr lang="en-US" sz="1200" dirty="0"/>
              <a:t>Compares total salary and loan amount across departments to evaluate financial allocation and employee loan trends.</a:t>
            </a:r>
            <a:endParaRPr lang="en-IN" sz="1250" b="0" i="0" dirty="0">
              <a:solidFill>
                <a:srgbClr val="333A47"/>
              </a:solidFill>
              <a:latin typeface="IBM Plex Sans" panose="020B0503050203000203" pitchFamily="34" charset="0"/>
            </a:endParaRPr>
          </a:p>
        </p:txBody>
      </p:sp>
      <p:sp>
        <p:nvSpPr>
          <p:cNvPr id="60" name="Text60">
            <a:extLst>
              <a:ext uri="{FF2B5EF4-FFF2-40B4-BE49-F238E27FC236}">
                <a16:creationId xmlns:a16="http://schemas.microsoft.com/office/drawing/2014/main" id="{0F3323F1-BC04-FE0D-661C-94AE2CF59B74}"/>
              </a:ext>
            </a:extLst>
          </p:cNvPr>
          <p:cNvSpPr txBox="1"/>
          <p:nvPr/>
        </p:nvSpPr>
        <p:spPr>
          <a:xfrm>
            <a:off x="4955017" y="3613500"/>
            <a:ext cx="3590000" cy="400000"/>
          </a:xfrm>
          <a:prstGeom prst="rect">
            <a:avLst/>
          </a:prstGeom>
          <a:noFill/>
        </p:spPr>
        <p:txBody>
          <a:bodyPr wrap="square" lIns="0" tIns="0" rIns="0" bIns="0" anchor="t">
            <a:normAutofit/>
          </a:bodyPr>
          <a:lstStyle/>
          <a:p>
            <a:pPr algn="l"/>
            <a:r>
              <a:rPr lang="en-IN" sz="1600" b="1" i="0" dirty="0">
                <a:solidFill>
                  <a:srgbClr val="B85042"/>
                </a:solidFill>
                <a:latin typeface="IBM Plex Sans SemiBold" panose="020B0503050203000203" pitchFamily="34" charset="0"/>
              </a:rPr>
              <a:t>Bar Charts</a:t>
            </a:r>
          </a:p>
        </p:txBody>
      </p:sp>
      <p:sp>
        <p:nvSpPr>
          <p:cNvPr id="70" name="Bullets70">
            <a:extLst>
              <a:ext uri="{FF2B5EF4-FFF2-40B4-BE49-F238E27FC236}">
                <a16:creationId xmlns:a16="http://schemas.microsoft.com/office/drawing/2014/main" id="{CC1E3BB2-87B0-2D54-9D20-33E56F1B3F8F}"/>
              </a:ext>
            </a:extLst>
          </p:cNvPr>
          <p:cNvSpPr txBox="1"/>
          <p:nvPr/>
        </p:nvSpPr>
        <p:spPr>
          <a:xfrm>
            <a:off x="4955017" y="4039547"/>
            <a:ext cx="3590000" cy="669324"/>
          </a:xfrm>
          <a:prstGeom prst="rect">
            <a:avLst/>
          </a:prstGeom>
          <a:noFill/>
        </p:spPr>
        <p:txBody>
          <a:bodyPr wrap="square" lIns="0" tIns="0" rIns="0" bIns="0">
            <a:normAutofit lnSpcReduction="10000"/>
          </a:bodyPr>
          <a:lstStyle/>
          <a:p>
            <a:pPr>
              <a:buClr>
                <a:srgbClr val="F2994A"/>
              </a:buClr>
            </a:pPr>
            <a:r>
              <a:rPr lang="en-US" sz="1200" b="1" dirty="0"/>
              <a:t>Employees by Department</a:t>
            </a:r>
            <a:br>
              <a:rPr lang="en-US" sz="1200" dirty="0"/>
            </a:br>
            <a:r>
              <a:rPr lang="en-US" sz="1200" dirty="0"/>
              <a:t>Displays the number of employees in each department, enabling comparison of workforce distribution across the organization.</a:t>
            </a:r>
            <a:endParaRPr lang="en-IN" sz="1300" dirty="0">
              <a:solidFill>
                <a:srgbClr val="333A47"/>
              </a:solidFill>
              <a:latin typeface="IBM Plex Sans" panose="020B0503050203000203" pitchFamily="34" charset="0"/>
            </a:endParaRPr>
          </a:p>
        </p:txBody>
      </p:sp>
      <p:pic>
        <p:nvPicPr>
          <p:cNvPr id="10" name="Picture 9">
            <a:extLst>
              <a:ext uri="{FF2B5EF4-FFF2-40B4-BE49-F238E27FC236}">
                <a16:creationId xmlns:a16="http://schemas.microsoft.com/office/drawing/2014/main" id="{04D244DD-E96D-DE1A-3579-72E2919B6162}"/>
              </a:ext>
            </a:extLst>
          </p:cNvPr>
          <p:cNvPicPr>
            <a:picLocks noChangeAspect="1"/>
          </p:cNvPicPr>
          <p:nvPr/>
        </p:nvPicPr>
        <p:blipFill>
          <a:blip r:embed="rId4"/>
          <a:stretch>
            <a:fillRect/>
          </a:stretch>
        </p:blipFill>
        <p:spPr>
          <a:xfrm>
            <a:off x="368983" y="165591"/>
            <a:ext cx="1009929" cy="393439"/>
          </a:xfrm>
          <a:prstGeom prst="rect">
            <a:avLst/>
          </a:prstGeom>
        </p:spPr>
      </p:pic>
      <p:pic>
        <p:nvPicPr>
          <p:cNvPr id="4" name="Picture 3">
            <a:extLst>
              <a:ext uri="{FF2B5EF4-FFF2-40B4-BE49-F238E27FC236}">
                <a16:creationId xmlns:a16="http://schemas.microsoft.com/office/drawing/2014/main" id="{12CD171F-5B88-26CE-D2C8-C41FA288E707}"/>
              </a:ext>
            </a:extLst>
          </p:cNvPr>
          <p:cNvPicPr>
            <a:picLocks noChangeAspect="1"/>
          </p:cNvPicPr>
          <p:nvPr/>
        </p:nvPicPr>
        <p:blipFill>
          <a:blip r:embed="rId5"/>
          <a:stretch>
            <a:fillRect/>
          </a:stretch>
        </p:blipFill>
        <p:spPr>
          <a:xfrm>
            <a:off x="7978488" y="165591"/>
            <a:ext cx="796529" cy="705085"/>
          </a:xfrm>
          <a:prstGeom prst="rect">
            <a:avLst/>
          </a:prstGeom>
        </p:spPr>
      </p:pic>
      <p:pic>
        <p:nvPicPr>
          <p:cNvPr id="5" name="Picture 4">
            <a:extLst>
              <a:ext uri="{FF2B5EF4-FFF2-40B4-BE49-F238E27FC236}">
                <a16:creationId xmlns:a16="http://schemas.microsoft.com/office/drawing/2014/main" id="{C843AE93-5DBD-6203-1C6A-42DD9C3EF973}"/>
              </a:ext>
            </a:extLst>
          </p:cNvPr>
          <p:cNvPicPr>
            <a:picLocks noChangeAspect="1"/>
          </p:cNvPicPr>
          <p:nvPr/>
        </p:nvPicPr>
        <p:blipFill>
          <a:blip r:embed="rId6"/>
          <a:srcRect l="18721" t="26139" r="56321" b="47493"/>
          <a:stretch>
            <a:fillRect/>
          </a:stretch>
        </p:blipFill>
        <p:spPr>
          <a:xfrm>
            <a:off x="5087526" y="1741134"/>
            <a:ext cx="2998855" cy="1781232"/>
          </a:xfrm>
          <a:prstGeom prst="rect">
            <a:avLst/>
          </a:prstGeom>
        </p:spPr>
      </p:pic>
      <p:pic>
        <p:nvPicPr>
          <p:cNvPr id="6" name="Picture 5">
            <a:extLst>
              <a:ext uri="{FF2B5EF4-FFF2-40B4-BE49-F238E27FC236}">
                <a16:creationId xmlns:a16="http://schemas.microsoft.com/office/drawing/2014/main" id="{130F269E-1658-5C33-CD30-78970F1C48B4}"/>
              </a:ext>
            </a:extLst>
          </p:cNvPr>
          <p:cNvPicPr>
            <a:picLocks noChangeAspect="1"/>
          </p:cNvPicPr>
          <p:nvPr/>
        </p:nvPicPr>
        <p:blipFill>
          <a:blip r:embed="rId6"/>
          <a:srcRect l="43954" t="26139" r="24186" b="46666"/>
          <a:stretch>
            <a:fillRect/>
          </a:stretch>
        </p:blipFill>
        <p:spPr>
          <a:xfrm>
            <a:off x="606715" y="1741134"/>
            <a:ext cx="3582268" cy="1719146"/>
          </a:xfrm>
          <a:prstGeom prst="rect">
            <a:avLst/>
          </a:prstGeom>
        </p:spPr>
      </p:pic>
    </p:spTree>
    <p:extLst>
      <p:ext uri="{BB962C8B-B14F-4D97-AF65-F5344CB8AC3E}">
        <p14:creationId xmlns:p14="http://schemas.microsoft.com/office/powerpoint/2010/main" val="1240595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6A5D4-256C-5A02-C738-0ADA63F71F5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C35DA7F-B2ED-0F92-2643-333406B19327}"/>
              </a:ext>
            </a:extLst>
          </p:cNvPr>
          <p:cNvPicPr>
            <a:picLocks noChangeAspect="1"/>
          </p:cNvPicPr>
          <p:nvPr/>
        </p:nvPicPr>
        <p:blipFill>
          <a:blip r:embed="rId2"/>
          <a:stretch>
            <a:fillRect/>
          </a:stretch>
        </p:blipFill>
        <p:spPr>
          <a:xfrm>
            <a:off x="888" y="0"/>
            <a:ext cx="9142223" cy="5143500"/>
          </a:xfrm>
          <a:prstGeom prst="rect">
            <a:avLst/>
          </a:prstGeom>
        </p:spPr>
      </p:pic>
      <p:sp>
        <p:nvSpPr>
          <p:cNvPr id="8" name="Title">
            <a:extLst>
              <a:ext uri="{FF2B5EF4-FFF2-40B4-BE49-F238E27FC236}">
                <a16:creationId xmlns:a16="http://schemas.microsoft.com/office/drawing/2014/main" id="{44885545-E87F-3517-762B-B3425EA3C52F}"/>
              </a:ext>
            </a:extLst>
          </p:cNvPr>
          <p:cNvSpPr txBox="1"/>
          <p:nvPr/>
        </p:nvSpPr>
        <p:spPr>
          <a:xfrm>
            <a:off x="368983" y="640000"/>
            <a:ext cx="8000000" cy="52322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Dashboard Features: Map &amp;  Charts</a:t>
            </a:r>
          </a:p>
        </p:txBody>
      </p:sp>
      <p:sp>
        <p:nvSpPr>
          <p:cNvPr id="9" name="Subtitle">
            <a:extLst>
              <a:ext uri="{FF2B5EF4-FFF2-40B4-BE49-F238E27FC236}">
                <a16:creationId xmlns:a16="http://schemas.microsoft.com/office/drawing/2014/main" id="{7C592FC7-D83A-2BF2-F167-DAAAC5D3D277}"/>
              </a:ext>
            </a:extLst>
          </p:cNvPr>
          <p:cNvSpPr txBox="1"/>
          <p:nvPr/>
        </p:nvSpPr>
        <p:spPr>
          <a:xfrm>
            <a:off x="368983" y="1130000"/>
            <a:ext cx="7900000" cy="260000"/>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Geographic and comparative views of the data</a:t>
            </a:r>
          </a:p>
        </p:txBody>
      </p:sp>
      <p:sp>
        <p:nvSpPr>
          <p:cNvPr id="20" name="Rect20">
            <a:extLst>
              <a:ext uri="{FF2B5EF4-FFF2-40B4-BE49-F238E27FC236}">
                <a16:creationId xmlns:a16="http://schemas.microsoft.com/office/drawing/2014/main" id="{BEFF2589-533F-C952-0F7E-7A3FCB2F5D2E}"/>
              </a:ext>
            </a:extLst>
          </p:cNvPr>
          <p:cNvSpPr/>
          <p:nvPr/>
        </p:nvSpPr>
        <p:spPr>
          <a:xfrm>
            <a:off x="368983" y="1650000"/>
            <a:ext cx="4050000" cy="3150000"/>
          </a:xfrm>
          <a:prstGeom prst="rect">
            <a:avLst/>
          </a:prstGeom>
          <a:solidFill>
            <a:srgbClr val="EDF1FC"/>
          </a:solidFill>
          <a:ln>
            <a:noFill/>
          </a:ln>
        </p:spPr>
        <p:txBody>
          <a:bodyPr/>
          <a:lstStyle/>
          <a:p>
            <a:endParaRPr/>
          </a:p>
        </p:txBody>
      </p:sp>
      <p:sp>
        <p:nvSpPr>
          <p:cNvPr id="21" name="Rect21">
            <a:extLst>
              <a:ext uri="{FF2B5EF4-FFF2-40B4-BE49-F238E27FC236}">
                <a16:creationId xmlns:a16="http://schemas.microsoft.com/office/drawing/2014/main" id="{130718F9-716A-1385-7F06-41D547680C41}"/>
              </a:ext>
            </a:extLst>
          </p:cNvPr>
          <p:cNvSpPr/>
          <p:nvPr/>
        </p:nvSpPr>
        <p:spPr>
          <a:xfrm>
            <a:off x="4618983" y="1650000"/>
            <a:ext cx="4050000" cy="3150000"/>
          </a:xfrm>
          <a:prstGeom prst="rect">
            <a:avLst/>
          </a:prstGeom>
          <a:solidFill>
            <a:srgbClr val="FBEFE6"/>
          </a:solidFill>
          <a:ln>
            <a:noFill/>
          </a:ln>
        </p:spPr>
        <p:txBody>
          <a:bodyPr/>
          <a:lstStyle/>
          <a:p>
            <a:endParaRPr/>
          </a:p>
        </p:txBody>
      </p:sp>
      <p:sp>
        <p:nvSpPr>
          <p:cNvPr id="40" name="Text40">
            <a:extLst>
              <a:ext uri="{FF2B5EF4-FFF2-40B4-BE49-F238E27FC236}">
                <a16:creationId xmlns:a16="http://schemas.microsoft.com/office/drawing/2014/main" id="{9116DEF8-30D4-65E4-2F4A-70D945F2330A}"/>
              </a:ext>
            </a:extLst>
          </p:cNvPr>
          <p:cNvSpPr txBox="1"/>
          <p:nvPr/>
        </p:nvSpPr>
        <p:spPr>
          <a:xfrm>
            <a:off x="598983" y="3613500"/>
            <a:ext cx="3590000" cy="400000"/>
          </a:xfrm>
          <a:prstGeom prst="rect">
            <a:avLst/>
          </a:prstGeom>
          <a:noFill/>
        </p:spPr>
        <p:txBody>
          <a:bodyPr wrap="square" lIns="0" tIns="0" rIns="0" bIns="0" anchor="t">
            <a:normAutofit/>
          </a:bodyPr>
          <a:lstStyle/>
          <a:p>
            <a:pPr algn="l"/>
            <a:r>
              <a:rPr lang="en-IN" sz="1600" b="1" i="0" dirty="0">
                <a:solidFill>
                  <a:srgbClr val="0532B3"/>
                </a:solidFill>
                <a:latin typeface="IBM Plex Sans SemiBold" panose="020B0503050203000203" pitchFamily="34" charset="0"/>
              </a:rPr>
              <a:t>Histogram</a:t>
            </a:r>
          </a:p>
        </p:txBody>
      </p:sp>
      <p:sp>
        <p:nvSpPr>
          <p:cNvPr id="41" name="Text41">
            <a:extLst>
              <a:ext uri="{FF2B5EF4-FFF2-40B4-BE49-F238E27FC236}">
                <a16:creationId xmlns:a16="http://schemas.microsoft.com/office/drawing/2014/main" id="{AC388236-C1FC-3AE1-2024-A021849405AC}"/>
              </a:ext>
            </a:extLst>
          </p:cNvPr>
          <p:cNvSpPr txBox="1"/>
          <p:nvPr/>
        </p:nvSpPr>
        <p:spPr>
          <a:xfrm>
            <a:off x="598983" y="4034209"/>
            <a:ext cx="3590000" cy="680000"/>
          </a:xfrm>
          <a:prstGeom prst="rect">
            <a:avLst/>
          </a:prstGeom>
          <a:noFill/>
        </p:spPr>
        <p:txBody>
          <a:bodyPr wrap="square" lIns="0" tIns="0" rIns="0" bIns="0" anchor="t">
            <a:normAutofit lnSpcReduction="10000"/>
          </a:bodyPr>
          <a:lstStyle/>
          <a:p>
            <a:r>
              <a:rPr lang="en-US" sz="1200" b="1" dirty="0"/>
              <a:t>Bonus Distribution</a:t>
            </a:r>
            <a:br>
              <a:rPr lang="en-US" sz="1200" dirty="0"/>
            </a:br>
            <a:r>
              <a:rPr lang="en-US" sz="1200" dirty="0"/>
              <a:t>Shows the frequency distribution of employee bonus percentages, highlighting common bonus ranges and variation.</a:t>
            </a:r>
            <a:endParaRPr lang="en-IN" sz="1250" b="0" i="0" dirty="0">
              <a:solidFill>
                <a:srgbClr val="333A47"/>
              </a:solidFill>
              <a:latin typeface="IBM Plex Sans" panose="020B0503050203000203" pitchFamily="34" charset="0"/>
            </a:endParaRPr>
          </a:p>
        </p:txBody>
      </p:sp>
      <p:sp>
        <p:nvSpPr>
          <p:cNvPr id="60" name="Text60">
            <a:extLst>
              <a:ext uri="{FF2B5EF4-FFF2-40B4-BE49-F238E27FC236}">
                <a16:creationId xmlns:a16="http://schemas.microsoft.com/office/drawing/2014/main" id="{1C77413E-E4BF-3EA6-5D73-CFD817689EF4}"/>
              </a:ext>
            </a:extLst>
          </p:cNvPr>
          <p:cNvSpPr txBox="1"/>
          <p:nvPr/>
        </p:nvSpPr>
        <p:spPr>
          <a:xfrm>
            <a:off x="4955017" y="3613500"/>
            <a:ext cx="3590000" cy="400000"/>
          </a:xfrm>
          <a:prstGeom prst="rect">
            <a:avLst/>
          </a:prstGeom>
          <a:noFill/>
        </p:spPr>
        <p:txBody>
          <a:bodyPr wrap="square" lIns="0" tIns="0" rIns="0" bIns="0" anchor="t">
            <a:normAutofit/>
          </a:bodyPr>
          <a:lstStyle/>
          <a:p>
            <a:pPr algn="l"/>
            <a:r>
              <a:rPr lang="en-IN" sz="1600" b="1" i="0" dirty="0">
                <a:solidFill>
                  <a:srgbClr val="B85042"/>
                </a:solidFill>
                <a:latin typeface="IBM Plex Sans SemiBold" panose="020B0503050203000203" pitchFamily="34" charset="0"/>
              </a:rPr>
              <a:t>Pie Chart</a:t>
            </a:r>
          </a:p>
        </p:txBody>
      </p:sp>
      <p:sp>
        <p:nvSpPr>
          <p:cNvPr id="70" name="Bullets70">
            <a:extLst>
              <a:ext uri="{FF2B5EF4-FFF2-40B4-BE49-F238E27FC236}">
                <a16:creationId xmlns:a16="http://schemas.microsoft.com/office/drawing/2014/main" id="{B331E9EE-F702-F2BC-25AD-51388579DF0A}"/>
              </a:ext>
            </a:extLst>
          </p:cNvPr>
          <p:cNvSpPr txBox="1"/>
          <p:nvPr/>
        </p:nvSpPr>
        <p:spPr>
          <a:xfrm>
            <a:off x="4955017" y="4039547"/>
            <a:ext cx="3590000" cy="669324"/>
          </a:xfrm>
          <a:prstGeom prst="rect">
            <a:avLst/>
          </a:prstGeom>
          <a:noFill/>
        </p:spPr>
        <p:txBody>
          <a:bodyPr wrap="square" lIns="0" tIns="0" rIns="0" bIns="0">
            <a:normAutofit/>
          </a:bodyPr>
          <a:lstStyle/>
          <a:p>
            <a:pPr>
              <a:buClr>
                <a:srgbClr val="F2994A"/>
              </a:buClr>
            </a:pPr>
            <a:r>
              <a:rPr lang="en-US" sz="1200" b="1" dirty="0"/>
              <a:t>Performance Rating Distribution</a:t>
            </a:r>
            <a:br>
              <a:rPr lang="en-US" sz="1200" dirty="0"/>
            </a:br>
            <a:r>
              <a:rPr lang="en-US" sz="1200" dirty="0"/>
              <a:t>Illustrates the percentage distribution of employee performance ratings across different departments.</a:t>
            </a:r>
            <a:endParaRPr lang="en-IN" sz="1300" dirty="0">
              <a:solidFill>
                <a:srgbClr val="333A47"/>
              </a:solidFill>
              <a:latin typeface="IBM Plex Sans" panose="020B0503050203000203" pitchFamily="34" charset="0"/>
            </a:endParaRPr>
          </a:p>
        </p:txBody>
      </p:sp>
      <p:pic>
        <p:nvPicPr>
          <p:cNvPr id="10" name="Picture 9">
            <a:extLst>
              <a:ext uri="{FF2B5EF4-FFF2-40B4-BE49-F238E27FC236}">
                <a16:creationId xmlns:a16="http://schemas.microsoft.com/office/drawing/2014/main" id="{1EFDEF91-EC52-6EEE-9057-7C225CDD0B42}"/>
              </a:ext>
            </a:extLst>
          </p:cNvPr>
          <p:cNvPicPr>
            <a:picLocks noChangeAspect="1"/>
          </p:cNvPicPr>
          <p:nvPr/>
        </p:nvPicPr>
        <p:blipFill>
          <a:blip r:embed="rId3"/>
          <a:stretch>
            <a:fillRect/>
          </a:stretch>
        </p:blipFill>
        <p:spPr>
          <a:xfrm>
            <a:off x="368983" y="165591"/>
            <a:ext cx="1009929" cy="393439"/>
          </a:xfrm>
          <a:prstGeom prst="rect">
            <a:avLst/>
          </a:prstGeom>
        </p:spPr>
      </p:pic>
      <p:pic>
        <p:nvPicPr>
          <p:cNvPr id="4" name="Picture 3">
            <a:extLst>
              <a:ext uri="{FF2B5EF4-FFF2-40B4-BE49-F238E27FC236}">
                <a16:creationId xmlns:a16="http://schemas.microsoft.com/office/drawing/2014/main" id="{230B6FCC-3339-51DF-FE4D-6DCB77B43100}"/>
              </a:ext>
            </a:extLst>
          </p:cNvPr>
          <p:cNvPicPr>
            <a:picLocks noChangeAspect="1"/>
          </p:cNvPicPr>
          <p:nvPr/>
        </p:nvPicPr>
        <p:blipFill>
          <a:blip r:embed="rId4"/>
          <a:stretch>
            <a:fillRect/>
          </a:stretch>
        </p:blipFill>
        <p:spPr>
          <a:xfrm>
            <a:off x="7978488" y="165591"/>
            <a:ext cx="796529" cy="705085"/>
          </a:xfrm>
          <a:prstGeom prst="rect">
            <a:avLst/>
          </a:prstGeom>
        </p:spPr>
      </p:pic>
      <p:pic>
        <p:nvPicPr>
          <p:cNvPr id="5" name="Picture 4">
            <a:extLst>
              <a:ext uri="{FF2B5EF4-FFF2-40B4-BE49-F238E27FC236}">
                <a16:creationId xmlns:a16="http://schemas.microsoft.com/office/drawing/2014/main" id="{D226D1A6-CC60-8456-3DD8-9A07A9E8B085}"/>
              </a:ext>
            </a:extLst>
          </p:cNvPr>
          <p:cNvPicPr>
            <a:picLocks noChangeAspect="1"/>
          </p:cNvPicPr>
          <p:nvPr/>
        </p:nvPicPr>
        <p:blipFill>
          <a:blip r:embed="rId5"/>
          <a:srcRect l="18721" t="54246" r="61781" b="15709"/>
          <a:stretch>
            <a:fillRect/>
          </a:stretch>
        </p:blipFill>
        <p:spPr>
          <a:xfrm>
            <a:off x="5687641" y="1711354"/>
            <a:ext cx="2124751" cy="1840793"/>
          </a:xfrm>
          <a:prstGeom prst="rect">
            <a:avLst/>
          </a:prstGeom>
        </p:spPr>
      </p:pic>
      <p:pic>
        <p:nvPicPr>
          <p:cNvPr id="11" name="Picture 10">
            <a:extLst>
              <a:ext uri="{FF2B5EF4-FFF2-40B4-BE49-F238E27FC236}">
                <a16:creationId xmlns:a16="http://schemas.microsoft.com/office/drawing/2014/main" id="{D8EB3D97-7BC5-4859-5D68-F0F47C55AA88}"/>
              </a:ext>
            </a:extLst>
          </p:cNvPr>
          <p:cNvPicPr>
            <a:picLocks noChangeAspect="1"/>
          </p:cNvPicPr>
          <p:nvPr/>
        </p:nvPicPr>
        <p:blipFill>
          <a:blip r:embed="rId5"/>
          <a:srcRect l="77361" t="27262" r="47" b="47975"/>
          <a:stretch>
            <a:fillRect/>
          </a:stretch>
        </p:blipFill>
        <p:spPr>
          <a:xfrm>
            <a:off x="839972" y="1711354"/>
            <a:ext cx="3060643" cy="1886151"/>
          </a:xfrm>
          <a:prstGeom prst="rect">
            <a:avLst/>
          </a:prstGeom>
        </p:spPr>
      </p:pic>
    </p:spTree>
    <p:extLst>
      <p:ext uri="{BB962C8B-B14F-4D97-AF65-F5344CB8AC3E}">
        <p14:creationId xmlns:p14="http://schemas.microsoft.com/office/powerpoint/2010/main" val="2653522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030AC-43FD-6AA3-4EA3-AEB73EC06B5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1B72194-700D-B4C9-C211-C09C86233A6A}"/>
              </a:ext>
            </a:extLst>
          </p:cNvPr>
          <p:cNvPicPr>
            <a:picLocks noChangeAspect="1"/>
          </p:cNvPicPr>
          <p:nvPr/>
        </p:nvPicPr>
        <p:blipFill>
          <a:blip r:embed="rId2"/>
          <a:stretch>
            <a:fillRect/>
          </a:stretch>
        </p:blipFill>
        <p:spPr>
          <a:xfrm>
            <a:off x="888" y="0"/>
            <a:ext cx="9142223" cy="5143500"/>
          </a:xfrm>
          <a:prstGeom prst="rect">
            <a:avLst/>
          </a:prstGeom>
        </p:spPr>
      </p:pic>
      <p:sp>
        <p:nvSpPr>
          <p:cNvPr id="8" name="Title">
            <a:extLst>
              <a:ext uri="{FF2B5EF4-FFF2-40B4-BE49-F238E27FC236}">
                <a16:creationId xmlns:a16="http://schemas.microsoft.com/office/drawing/2014/main" id="{FB05DCA0-A48F-6A1D-A6A2-A446DFF650ED}"/>
              </a:ext>
            </a:extLst>
          </p:cNvPr>
          <p:cNvSpPr txBox="1"/>
          <p:nvPr/>
        </p:nvSpPr>
        <p:spPr>
          <a:xfrm>
            <a:off x="368983" y="640000"/>
            <a:ext cx="8000000" cy="52322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Dashboard Features: Map &amp;  Charts</a:t>
            </a:r>
          </a:p>
        </p:txBody>
      </p:sp>
      <p:sp>
        <p:nvSpPr>
          <p:cNvPr id="9" name="Subtitle">
            <a:extLst>
              <a:ext uri="{FF2B5EF4-FFF2-40B4-BE49-F238E27FC236}">
                <a16:creationId xmlns:a16="http://schemas.microsoft.com/office/drawing/2014/main" id="{8263E6AA-12A3-FE3E-DC17-A3E86C12C365}"/>
              </a:ext>
            </a:extLst>
          </p:cNvPr>
          <p:cNvSpPr txBox="1"/>
          <p:nvPr/>
        </p:nvSpPr>
        <p:spPr>
          <a:xfrm>
            <a:off x="368983" y="1130000"/>
            <a:ext cx="7900000" cy="260000"/>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Geographic and comparative views of the data</a:t>
            </a:r>
          </a:p>
        </p:txBody>
      </p:sp>
      <p:sp>
        <p:nvSpPr>
          <p:cNvPr id="20" name="Rect20">
            <a:extLst>
              <a:ext uri="{FF2B5EF4-FFF2-40B4-BE49-F238E27FC236}">
                <a16:creationId xmlns:a16="http://schemas.microsoft.com/office/drawing/2014/main" id="{F959FDD5-59A0-6CEC-C9FE-9309F131ADE2}"/>
              </a:ext>
            </a:extLst>
          </p:cNvPr>
          <p:cNvSpPr/>
          <p:nvPr/>
        </p:nvSpPr>
        <p:spPr>
          <a:xfrm>
            <a:off x="368983" y="1650000"/>
            <a:ext cx="4050000" cy="3150000"/>
          </a:xfrm>
          <a:prstGeom prst="rect">
            <a:avLst/>
          </a:prstGeom>
          <a:solidFill>
            <a:srgbClr val="EDF1FC"/>
          </a:solidFill>
          <a:ln>
            <a:noFill/>
          </a:ln>
        </p:spPr>
        <p:txBody>
          <a:bodyPr/>
          <a:lstStyle/>
          <a:p>
            <a:endParaRPr/>
          </a:p>
        </p:txBody>
      </p:sp>
      <p:sp>
        <p:nvSpPr>
          <p:cNvPr id="21" name="Rect21">
            <a:extLst>
              <a:ext uri="{FF2B5EF4-FFF2-40B4-BE49-F238E27FC236}">
                <a16:creationId xmlns:a16="http://schemas.microsoft.com/office/drawing/2014/main" id="{1A1DA403-6669-C100-5213-E56AAF65A8C6}"/>
              </a:ext>
            </a:extLst>
          </p:cNvPr>
          <p:cNvSpPr/>
          <p:nvPr/>
        </p:nvSpPr>
        <p:spPr>
          <a:xfrm>
            <a:off x="4618983" y="1650000"/>
            <a:ext cx="4050000" cy="3150000"/>
          </a:xfrm>
          <a:prstGeom prst="rect">
            <a:avLst/>
          </a:prstGeom>
          <a:solidFill>
            <a:srgbClr val="FBEFE6"/>
          </a:solidFill>
          <a:ln>
            <a:noFill/>
          </a:ln>
        </p:spPr>
        <p:txBody>
          <a:bodyPr/>
          <a:lstStyle/>
          <a:p>
            <a:endParaRPr/>
          </a:p>
        </p:txBody>
      </p:sp>
      <p:sp>
        <p:nvSpPr>
          <p:cNvPr id="40" name="Text40">
            <a:extLst>
              <a:ext uri="{FF2B5EF4-FFF2-40B4-BE49-F238E27FC236}">
                <a16:creationId xmlns:a16="http://schemas.microsoft.com/office/drawing/2014/main" id="{2DB6E9FD-CA21-8E61-6277-371E051E15A4}"/>
              </a:ext>
            </a:extLst>
          </p:cNvPr>
          <p:cNvSpPr txBox="1"/>
          <p:nvPr/>
        </p:nvSpPr>
        <p:spPr>
          <a:xfrm>
            <a:off x="598983" y="3613500"/>
            <a:ext cx="3590000" cy="400000"/>
          </a:xfrm>
          <a:prstGeom prst="rect">
            <a:avLst/>
          </a:prstGeom>
          <a:noFill/>
        </p:spPr>
        <p:txBody>
          <a:bodyPr wrap="square" lIns="0" tIns="0" rIns="0" bIns="0" anchor="t">
            <a:normAutofit/>
          </a:bodyPr>
          <a:lstStyle/>
          <a:p>
            <a:pPr algn="l"/>
            <a:r>
              <a:rPr lang="en-IN" sz="1600" b="1" i="0" dirty="0">
                <a:solidFill>
                  <a:srgbClr val="0532B3"/>
                </a:solidFill>
                <a:latin typeface="IBM Plex Sans SemiBold" panose="020B0503050203000203" pitchFamily="34" charset="0"/>
              </a:rPr>
              <a:t>Stacked Bar Chart</a:t>
            </a:r>
          </a:p>
        </p:txBody>
      </p:sp>
      <p:sp>
        <p:nvSpPr>
          <p:cNvPr id="41" name="Text41">
            <a:extLst>
              <a:ext uri="{FF2B5EF4-FFF2-40B4-BE49-F238E27FC236}">
                <a16:creationId xmlns:a16="http://schemas.microsoft.com/office/drawing/2014/main" id="{99A8F7FD-D5A6-D47E-CFB5-1F671CF5270F}"/>
              </a:ext>
            </a:extLst>
          </p:cNvPr>
          <p:cNvSpPr txBox="1"/>
          <p:nvPr/>
        </p:nvSpPr>
        <p:spPr>
          <a:xfrm>
            <a:off x="598983" y="4034209"/>
            <a:ext cx="3590000" cy="680000"/>
          </a:xfrm>
          <a:prstGeom prst="rect">
            <a:avLst/>
          </a:prstGeom>
          <a:noFill/>
        </p:spPr>
        <p:txBody>
          <a:bodyPr wrap="square" lIns="0" tIns="0" rIns="0" bIns="0" anchor="t">
            <a:normAutofit lnSpcReduction="10000"/>
          </a:bodyPr>
          <a:lstStyle/>
          <a:p>
            <a:r>
              <a:rPr lang="en-US" sz="1200" b="1" dirty="0"/>
              <a:t>Quarterly Sales by Location</a:t>
            </a:r>
            <a:br>
              <a:rPr lang="en-US" sz="1200" dirty="0"/>
            </a:br>
            <a:r>
              <a:rPr lang="en-US" sz="1200" dirty="0"/>
              <a:t>Compares quarterly sales (Q1–Q4) across office locations, helping identify regional sales performance and trends.</a:t>
            </a:r>
            <a:endParaRPr lang="en-IN" sz="1250" b="0" i="0" dirty="0">
              <a:solidFill>
                <a:srgbClr val="333A47"/>
              </a:solidFill>
              <a:latin typeface="IBM Plex Sans" panose="020B0503050203000203" pitchFamily="34" charset="0"/>
            </a:endParaRPr>
          </a:p>
        </p:txBody>
      </p:sp>
      <p:sp>
        <p:nvSpPr>
          <p:cNvPr id="60" name="Text60">
            <a:extLst>
              <a:ext uri="{FF2B5EF4-FFF2-40B4-BE49-F238E27FC236}">
                <a16:creationId xmlns:a16="http://schemas.microsoft.com/office/drawing/2014/main" id="{FD4CAEE8-49F7-A9FD-2020-7894AABD76DF}"/>
              </a:ext>
            </a:extLst>
          </p:cNvPr>
          <p:cNvSpPr txBox="1"/>
          <p:nvPr/>
        </p:nvSpPr>
        <p:spPr>
          <a:xfrm>
            <a:off x="4955017" y="3613500"/>
            <a:ext cx="3590000" cy="400000"/>
          </a:xfrm>
          <a:prstGeom prst="rect">
            <a:avLst/>
          </a:prstGeom>
          <a:noFill/>
        </p:spPr>
        <p:txBody>
          <a:bodyPr wrap="square" lIns="0" tIns="0" rIns="0" bIns="0" anchor="t">
            <a:normAutofit/>
          </a:bodyPr>
          <a:lstStyle/>
          <a:p>
            <a:pPr algn="l"/>
            <a:r>
              <a:rPr lang="en-IN" sz="1600" b="1" i="0" dirty="0">
                <a:solidFill>
                  <a:srgbClr val="B85042"/>
                </a:solidFill>
                <a:latin typeface="IBM Plex Sans SemiBold" panose="020B0503050203000203" pitchFamily="34" charset="0"/>
              </a:rPr>
              <a:t>Scatter Plot</a:t>
            </a:r>
          </a:p>
        </p:txBody>
      </p:sp>
      <p:sp>
        <p:nvSpPr>
          <p:cNvPr id="70" name="Bullets70">
            <a:extLst>
              <a:ext uri="{FF2B5EF4-FFF2-40B4-BE49-F238E27FC236}">
                <a16:creationId xmlns:a16="http://schemas.microsoft.com/office/drawing/2014/main" id="{ED0B29DD-57BD-14F5-6014-52363B8AA8FD}"/>
              </a:ext>
            </a:extLst>
          </p:cNvPr>
          <p:cNvSpPr txBox="1"/>
          <p:nvPr/>
        </p:nvSpPr>
        <p:spPr>
          <a:xfrm>
            <a:off x="4955017" y="4039547"/>
            <a:ext cx="3590000" cy="669324"/>
          </a:xfrm>
          <a:prstGeom prst="rect">
            <a:avLst/>
          </a:prstGeom>
          <a:noFill/>
        </p:spPr>
        <p:txBody>
          <a:bodyPr wrap="square" lIns="0" tIns="0" rIns="0" bIns="0">
            <a:normAutofit fontScale="92500" lnSpcReduction="10000"/>
          </a:bodyPr>
          <a:lstStyle/>
          <a:p>
            <a:r>
              <a:rPr lang="en-US" sz="1200" b="1" dirty="0"/>
              <a:t>Bonus % vs Performance Rating</a:t>
            </a:r>
            <a:br>
              <a:rPr lang="en-US" sz="1200" dirty="0"/>
            </a:br>
            <a:r>
              <a:rPr lang="en-US" sz="1200" dirty="0"/>
              <a:t>Visualizes the relationship between bonus percentage and performance rating, helping assess whether higher-performing employees receive higher bonuses.</a:t>
            </a:r>
          </a:p>
        </p:txBody>
      </p:sp>
      <p:pic>
        <p:nvPicPr>
          <p:cNvPr id="10" name="Picture 9">
            <a:extLst>
              <a:ext uri="{FF2B5EF4-FFF2-40B4-BE49-F238E27FC236}">
                <a16:creationId xmlns:a16="http://schemas.microsoft.com/office/drawing/2014/main" id="{FE685B5D-8CD4-1A1C-5AA1-673C5A78D6AA}"/>
              </a:ext>
            </a:extLst>
          </p:cNvPr>
          <p:cNvPicPr>
            <a:picLocks noChangeAspect="1"/>
          </p:cNvPicPr>
          <p:nvPr/>
        </p:nvPicPr>
        <p:blipFill>
          <a:blip r:embed="rId3"/>
          <a:stretch>
            <a:fillRect/>
          </a:stretch>
        </p:blipFill>
        <p:spPr>
          <a:xfrm>
            <a:off x="368983" y="165591"/>
            <a:ext cx="1009929" cy="393439"/>
          </a:xfrm>
          <a:prstGeom prst="rect">
            <a:avLst/>
          </a:prstGeom>
        </p:spPr>
      </p:pic>
      <p:pic>
        <p:nvPicPr>
          <p:cNvPr id="4" name="Picture 3">
            <a:extLst>
              <a:ext uri="{FF2B5EF4-FFF2-40B4-BE49-F238E27FC236}">
                <a16:creationId xmlns:a16="http://schemas.microsoft.com/office/drawing/2014/main" id="{43178465-CCAC-8995-87FB-E824DE47DFBF}"/>
              </a:ext>
            </a:extLst>
          </p:cNvPr>
          <p:cNvPicPr>
            <a:picLocks noChangeAspect="1"/>
          </p:cNvPicPr>
          <p:nvPr/>
        </p:nvPicPr>
        <p:blipFill>
          <a:blip r:embed="rId4"/>
          <a:stretch>
            <a:fillRect/>
          </a:stretch>
        </p:blipFill>
        <p:spPr>
          <a:xfrm>
            <a:off x="7978488" y="165591"/>
            <a:ext cx="796529" cy="705085"/>
          </a:xfrm>
          <a:prstGeom prst="rect">
            <a:avLst/>
          </a:prstGeom>
        </p:spPr>
      </p:pic>
      <p:pic>
        <p:nvPicPr>
          <p:cNvPr id="5" name="Picture 4">
            <a:extLst>
              <a:ext uri="{FF2B5EF4-FFF2-40B4-BE49-F238E27FC236}">
                <a16:creationId xmlns:a16="http://schemas.microsoft.com/office/drawing/2014/main" id="{0C7DA1A9-85DE-3149-73E2-38285ACB9DD3}"/>
              </a:ext>
            </a:extLst>
          </p:cNvPr>
          <p:cNvPicPr>
            <a:picLocks noChangeAspect="1"/>
          </p:cNvPicPr>
          <p:nvPr/>
        </p:nvPicPr>
        <p:blipFill>
          <a:blip r:embed="rId5"/>
          <a:srcRect l="75246" t="53122" b="14484"/>
          <a:stretch>
            <a:fillRect/>
          </a:stretch>
        </p:blipFill>
        <p:spPr>
          <a:xfrm>
            <a:off x="5700840" y="1649324"/>
            <a:ext cx="2452890" cy="1804706"/>
          </a:xfrm>
          <a:prstGeom prst="rect">
            <a:avLst/>
          </a:prstGeom>
        </p:spPr>
      </p:pic>
      <p:pic>
        <p:nvPicPr>
          <p:cNvPr id="6" name="Picture 5">
            <a:extLst>
              <a:ext uri="{FF2B5EF4-FFF2-40B4-BE49-F238E27FC236}">
                <a16:creationId xmlns:a16="http://schemas.microsoft.com/office/drawing/2014/main" id="{EC0F778C-6F31-F94F-0595-E886620CEE93}"/>
              </a:ext>
            </a:extLst>
          </p:cNvPr>
          <p:cNvPicPr>
            <a:picLocks noChangeAspect="1"/>
          </p:cNvPicPr>
          <p:nvPr/>
        </p:nvPicPr>
        <p:blipFill>
          <a:blip r:embed="rId6"/>
          <a:srcRect l="39768" t="53749" r="25000" b="14401"/>
          <a:stretch>
            <a:fillRect/>
          </a:stretch>
        </p:blipFill>
        <p:spPr>
          <a:xfrm>
            <a:off x="756389" y="1732970"/>
            <a:ext cx="3221666" cy="1637414"/>
          </a:xfrm>
          <a:prstGeom prst="rect">
            <a:avLst/>
          </a:prstGeom>
        </p:spPr>
      </p:pic>
    </p:spTree>
    <p:extLst>
      <p:ext uri="{BB962C8B-B14F-4D97-AF65-F5344CB8AC3E}">
        <p14:creationId xmlns:p14="http://schemas.microsoft.com/office/powerpoint/2010/main" val="3595967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24B9E-A836-1DD0-4988-0A4A2CB3D35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E5904F-1462-D762-9F6F-70CD473C245D}"/>
              </a:ext>
            </a:extLst>
          </p:cNvPr>
          <p:cNvPicPr>
            <a:picLocks noChangeAspect="1"/>
          </p:cNvPicPr>
          <p:nvPr/>
        </p:nvPicPr>
        <p:blipFill>
          <a:blip r:embed="rId2"/>
          <a:stretch>
            <a:fillRect/>
          </a:stretch>
        </p:blipFill>
        <p:spPr>
          <a:xfrm>
            <a:off x="888" y="0"/>
            <a:ext cx="9142223" cy="5143500"/>
          </a:xfrm>
          <a:prstGeom prst="rect">
            <a:avLst/>
          </a:prstGeom>
        </p:spPr>
      </p:pic>
      <p:sp>
        <p:nvSpPr>
          <p:cNvPr id="8" name="Title">
            <a:extLst>
              <a:ext uri="{FF2B5EF4-FFF2-40B4-BE49-F238E27FC236}">
                <a16:creationId xmlns:a16="http://schemas.microsoft.com/office/drawing/2014/main" id="{0E4DFB09-7E63-BF37-7138-4F05A228C2DB}"/>
              </a:ext>
            </a:extLst>
          </p:cNvPr>
          <p:cNvSpPr txBox="1"/>
          <p:nvPr/>
        </p:nvSpPr>
        <p:spPr>
          <a:xfrm>
            <a:off x="368983" y="640000"/>
            <a:ext cx="8000000" cy="523220"/>
          </a:xfrm>
          <a:prstGeom prst="rect">
            <a:avLst/>
          </a:prstGeom>
          <a:noFill/>
        </p:spPr>
        <p:txBody>
          <a:bodyPr wrap="square" rtlCol="0">
            <a:spAutoFit/>
          </a:bodyPr>
          <a:lstStyle/>
          <a:p>
            <a:r>
              <a:rPr lang="en-IN" sz="2800" b="1" dirty="0">
                <a:solidFill>
                  <a:srgbClr val="0532B3"/>
                </a:solidFill>
                <a:latin typeface="IBM Plex Sans SemiBold" panose="020B0503050203000203" pitchFamily="34" charset="0"/>
              </a:rPr>
              <a:t>Live Dashboard Demonstration</a:t>
            </a:r>
          </a:p>
        </p:txBody>
      </p:sp>
      <p:sp>
        <p:nvSpPr>
          <p:cNvPr id="9" name="Subtitle">
            <a:extLst>
              <a:ext uri="{FF2B5EF4-FFF2-40B4-BE49-F238E27FC236}">
                <a16:creationId xmlns:a16="http://schemas.microsoft.com/office/drawing/2014/main" id="{BC48F06B-C02B-D52F-DB98-2DF98F746563}"/>
              </a:ext>
            </a:extLst>
          </p:cNvPr>
          <p:cNvSpPr txBox="1"/>
          <p:nvPr/>
        </p:nvSpPr>
        <p:spPr>
          <a:xfrm>
            <a:off x="368983" y="1130000"/>
            <a:ext cx="7900000" cy="260000"/>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Geographic and comparative views of the data</a:t>
            </a:r>
          </a:p>
        </p:txBody>
      </p:sp>
      <p:sp>
        <p:nvSpPr>
          <p:cNvPr id="20" name="Rect20">
            <a:extLst>
              <a:ext uri="{FF2B5EF4-FFF2-40B4-BE49-F238E27FC236}">
                <a16:creationId xmlns:a16="http://schemas.microsoft.com/office/drawing/2014/main" id="{CED01555-3A14-E2F0-8571-6DEBC425D2EC}"/>
              </a:ext>
            </a:extLst>
          </p:cNvPr>
          <p:cNvSpPr/>
          <p:nvPr/>
        </p:nvSpPr>
        <p:spPr>
          <a:xfrm>
            <a:off x="431461" y="1650945"/>
            <a:ext cx="8176034" cy="3150000"/>
          </a:xfrm>
          <a:prstGeom prst="rect">
            <a:avLst/>
          </a:prstGeom>
          <a:solidFill>
            <a:srgbClr val="EDF1FC"/>
          </a:solidFill>
          <a:ln>
            <a:noFill/>
          </a:ln>
        </p:spPr>
        <p:txBody>
          <a:bodyPr/>
          <a:lstStyle/>
          <a:p>
            <a:endParaRPr/>
          </a:p>
        </p:txBody>
      </p:sp>
      <p:sp>
        <p:nvSpPr>
          <p:cNvPr id="30" name="Circle30">
            <a:extLst>
              <a:ext uri="{FF2B5EF4-FFF2-40B4-BE49-F238E27FC236}">
                <a16:creationId xmlns:a16="http://schemas.microsoft.com/office/drawing/2014/main" id="{19236DFC-FBB9-1CE5-AA77-9B8E392EA100}"/>
              </a:ext>
            </a:extLst>
          </p:cNvPr>
          <p:cNvSpPr/>
          <p:nvPr/>
        </p:nvSpPr>
        <p:spPr>
          <a:xfrm>
            <a:off x="496535" y="3943500"/>
            <a:ext cx="460000" cy="460000"/>
          </a:xfrm>
          <a:prstGeom prst="ellipse">
            <a:avLst/>
          </a:prstGeom>
          <a:solidFill>
            <a:srgbClr val="0532B3"/>
          </a:solidFill>
          <a:ln>
            <a:noFill/>
          </a:ln>
        </p:spPr>
        <p:txBody>
          <a:bodyPr/>
          <a:lstStyle/>
          <a:p>
            <a:endParaRPr/>
          </a:p>
        </p:txBody>
      </p:sp>
      <p:sp>
        <p:nvSpPr>
          <p:cNvPr id="31" name="Glyph31">
            <a:extLst>
              <a:ext uri="{FF2B5EF4-FFF2-40B4-BE49-F238E27FC236}">
                <a16:creationId xmlns:a16="http://schemas.microsoft.com/office/drawing/2014/main" id="{97C4602B-6351-2F07-95D6-8E41BA01D9C6}"/>
              </a:ext>
            </a:extLst>
          </p:cNvPr>
          <p:cNvSpPr/>
          <p:nvPr/>
        </p:nvSpPr>
        <p:spPr>
          <a:xfrm>
            <a:off x="654223" y="4053500"/>
            <a:ext cx="160000" cy="220000"/>
          </a:xfrm>
          <a:prstGeom prst="teardrop">
            <a:avLst/>
          </a:prstGeom>
          <a:solidFill>
            <a:srgbClr val="FFFFFF"/>
          </a:solidFill>
          <a:ln>
            <a:noFill/>
          </a:ln>
        </p:spPr>
        <p:txBody>
          <a:bodyPr/>
          <a:lstStyle/>
          <a:p>
            <a:endParaRPr/>
          </a:p>
        </p:txBody>
      </p:sp>
      <p:sp>
        <p:nvSpPr>
          <p:cNvPr id="40" name="Text40">
            <a:extLst>
              <a:ext uri="{FF2B5EF4-FFF2-40B4-BE49-F238E27FC236}">
                <a16:creationId xmlns:a16="http://schemas.microsoft.com/office/drawing/2014/main" id="{13628351-B773-2542-059A-FBE7FC21F568}"/>
              </a:ext>
            </a:extLst>
          </p:cNvPr>
          <p:cNvSpPr txBox="1"/>
          <p:nvPr/>
        </p:nvSpPr>
        <p:spPr>
          <a:xfrm>
            <a:off x="528037" y="4465000"/>
            <a:ext cx="3590000" cy="400000"/>
          </a:xfrm>
          <a:prstGeom prst="rect">
            <a:avLst/>
          </a:prstGeom>
          <a:noFill/>
        </p:spPr>
        <p:txBody>
          <a:bodyPr wrap="square" lIns="0" tIns="0" rIns="0" bIns="0" anchor="t">
            <a:normAutofit/>
          </a:bodyPr>
          <a:lstStyle/>
          <a:p>
            <a:pPr algn="l"/>
            <a:r>
              <a:rPr lang="en-IN" sz="1600" b="1" i="0" dirty="0">
                <a:solidFill>
                  <a:srgbClr val="0532B3"/>
                </a:solidFill>
                <a:latin typeface="IBM Plex Sans SemiBold" panose="020B0503050203000203" pitchFamily="34" charset="0"/>
              </a:rPr>
              <a:t>Link</a:t>
            </a:r>
          </a:p>
        </p:txBody>
      </p:sp>
      <p:sp>
        <p:nvSpPr>
          <p:cNvPr id="41" name="Text41">
            <a:extLst>
              <a:ext uri="{FF2B5EF4-FFF2-40B4-BE49-F238E27FC236}">
                <a16:creationId xmlns:a16="http://schemas.microsoft.com/office/drawing/2014/main" id="{640C59D3-CB73-2ABF-9977-57720A61D9D0}"/>
              </a:ext>
            </a:extLst>
          </p:cNvPr>
          <p:cNvSpPr txBox="1"/>
          <p:nvPr/>
        </p:nvSpPr>
        <p:spPr>
          <a:xfrm>
            <a:off x="1483684" y="4178156"/>
            <a:ext cx="6349505" cy="1700000"/>
          </a:xfrm>
          <a:prstGeom prst="rect">
            <a:avLst/>
          </a:prstGeom>
          <a:noFill/>
        </p:spPr>
        <p:txBody>
          <a:bodyPr wrap="square" lIns="0" tIns="0" rIns="0" bIns="0" anchor="t">
            <a:normAutofit/>
          </a:bodyPr>
          <a:lstStyle/>
          <a:p>
            <a:r>
              <a:rPr lang="en-IN" sz="1250" dirty="0">
                <a:solidFill>
                  <a:srgbClr val="333A47"/>
                </a:solidFill>
                <a:latin typeface="IBM Plex Sans" panose="020B0503050203000203" pitchFamily="34" charset="0"/>
                <a:hlinkClick r:id="rId3"/>
              </a:rPr>
              <a:t>https://public.tableau.com/app/profile/sudipta.mitra5174/viz/IBMInternshipDashboard/Dashboard2</a:t>
            </a:r>
            <a:endParaRPr lang="en-IN" sz="1250" dirty="0">
              <a:solidFill>
                <a:srgbClr val="333A47"/>
              </a:solidFill>
              <a:latin typeface="IBM Plex Sans" panose="020B0503050203000203" pitchFamily="34" charset="0"/>
            </a:endParaRPr>
          </a:p>
          <a:p>
            <a:endParaRPr lang="en-IN" sz="1250" b="0" i="0" dirty="0">
              <a:solidFill>
                <a:srgbClr val="333A47"/>
              </a:solidFill>
              <a:latin typeface="IBM Plex Sans" panose="020B0503050203000203" pitchFamily="34" charset="0"/>
            </a:endParaRPr>
          </a:p>
        </p:txBody>
      </p:sp>
      <p:sp>
        <p:nvSpPr>
          <p:cNvPr id="53" name="Glyph53">
            <a:extLst>
              <a:ext uri="{FF2B5EF4-FFF2-40B4-BE49-F238E27FC236}">
                <a16:creationId xmlns:a16="http://schemas.microsoft.com/office/drawing/2014/main" id="{63237803-94A9-CCD8-3BF4-22A05623A282}"/>
              </a:ext>
            </a:extLst>
          </p:cNvPr>
          <p:cNvSpPr/>
          <p:nvPr/>
        </p:nvSpPr>
        <p:spPr>
          <a:xfrm>
            <a:off x="5218983" y="1990000"/>
            <a:ext cx="90000" cy="270000"/>
          </a:xfrm>
          <a:prstGeom prst="rect">
            <a:avLst/>
          </a:prstGeom>
          <a:solidFill>
            <a:srgbClr val="FFFFFF"/>
          </a:solidFill>
          <a:ln>
            <a:noFill/>
          </a:ln>
        </p:spPr>
        <p:txBody>
          <a:bodyPr/>
          <a:lstStyle/>
          <a:p>
            <a:endParaRPr/>
          </a:p>
        </p:txBody>
      </p:sp>
      <p:pic>
        <p:nvPicPr>
          <p:cNvPr id="10" name="Picture 9">
            <a:extLst>
              <a:ext uri="{FF2B5EF4-FFF2-40B4-BE49-F238E27FC236}">
                <a16:creationId xmlns:a16="http://schemas.microsoft.com/office/drawing/2014/main" id="{FCBE4B95-A9A8-3D1D-289E-B29556B7F9A4}"/>
              </a:ext>
            </a:extLst>
          </p:cNvPr>
          <p:cNvPicPr>
            <a:picLocks noChangeAspect="1"/>
          </p:cNvPicPr>
          <p:nvPr/>
        </p:nvPicPr>
        <p:blipFill>
          <a:blip r:embed="rId4"/>
          <a:stretch>
            <a:fillRect/>
          </a:stretch>
        </p:blipFill>
        <p:spPr>
          <a:xfrm>
            <a:off x="368983" y="165591"/>
            <a:ext cx="1009929" cy="393439"/>
          </a:xfrm>
          <a:prstGeom prst="rect">
            <a:avLst/>
          </a:prstGeom>
        </p:spPr>
      </p:pic>
      <p:pic>
        <p:nvPicPr>
          <p:cNvPr id="4" name="Picture 3">
            <a:extLst>
              <a:ext uri="{FF2B5EF4-FFF2-40B4-BE49-F238E27FC236}">
                <a16:creationId xmlns:a16="http://schemas.microsoft.com/office/drawing/2014/main" id="{C8E8CEA4-1F5E-1178-7398-5ABBAEB4CC36}"/>
              </a:ext>
            </a:extLst>
          </p:cNvPr>
          <p:cNvPicPr>
            <a:picLocks noChangeAspect="1"/>
          </p:cNvPicPr>
          <p:nvPr/>
        </p:nvPicPr>
        <p:blipFill>
          <a:blip r:embed="rId5"/>
          <a:stretch>
            <a:fillRect/>
          </a:stretch>
        </p:blipFill>
        <p:spPr>
          <a:xfrm>
            <a:off x="7978488" y="165591"/>
            <a:ext cx="796529" cy="705085"/>
          </a:xfrm>
          <a:prstGeom prst="rect">
            <a:avLst/>
          </a:prstGeom>
        </p:spPr>
      </p:pic>
      <p:pic>
        <p:nvPicPr>
          <p:cNvPr id="6" name="Picture 5">
            <a:extLst>
              <a:ext uri="{FF2B5EF4-FFF2-40B4-BE49-F238E27FC236}">
                <a16:creationId xmlns:a16="http://schemas.microsoft.com/office/drawing/2014/main" id="{BA396DEB-CC8F-49CE-BCF8-757BA9E5EDD1}"/>
              </a:ext>
            </a:extLst>
          </p:cNvPr>
          <p:cNvPicPr>
            <a:picLocks noChangeAspect="1"/>
          </p:cNvPicPr>
          <p:nvPr/>
        </p:nvPicPr>
        <p:blipFill>
          <a:blip r:embed="rId6"/>
          <a:srcRect l="1861" t="16912" b="12424"/>
          <a:stretch>
            <a:fillRect/>
          </a:stretch>
        </p:blipFill>
        <p:spPr>
          <a:xfrm>
            <a:off x="1452182" y="1530000"/>
            <a:ext cx="6233602" cy="2523500"/>
          </a:xfrm>
          <a:prstGeom prst="rect">
            <a:avLst/>
          </a:prstGeom>
        </p:spPr>
      </p:pic>
    </p:spTree>
    <p:extLst>
      <p:ext uri="{BB962C8B-B14F-4D97-AF65-F5344CB8AC3E}">
        <p14:creationId xmlns:p14="http://schemas.microsoft.com/office/powerpoint/2010/main" val="299626367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725</Words>
  <Application>Microsoft Office PowerPoint</Application>
  <PresentationFormat>On-screen Show (16:9)</PresentationFormat>
  <Paragraphs>111</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Wingdings</vt:lpstr>
      <vt:lpstr>Calibri</vt:lpstr>
      <vt:lpstr>IBM Plex Sans SemiBold</vt:lpstr>
      <vt:lpstr>Helvetica Neue Light</vt:lpstr>
      <vt:lpstr>Tahoma</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Tanuja Singh</dc:creator>
  <cp:lastModifiedBy>Sdipta</cp:lastModifiedBy>
  <cp:revision>8</cp:revision>
  <dcterms:modified xsi:type="dcterms:W3CDTF">2026-07-26T16:07:08Z</dcterms:modified>
</cp:coreProperties>
</file>